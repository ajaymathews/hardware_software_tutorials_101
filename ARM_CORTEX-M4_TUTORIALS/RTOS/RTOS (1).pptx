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3"/>
  </p:notesMasterIdLst>
  <p:handoutMasterIdLst>
    <p:handoutMasterId r:id="rId34"/>
  </p:handoutMasterIdLst>
  <p:sldIdLst>
    <p:sldId id="256" r:id="rId5"/>
    <p:sldId id="257" r:id="rId6"/>
    <p:sldId id="258" r:id="rId7"/>
    <p:sldId id="259" r:id="rId8"/>
    <p:sldId id="260" r:id="rId9"/>
    <p:sldId id="261" r:id="rId10"/>
    <p:sldId id="264" r:id="rId11"/>
    <p:sldId id="265"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6" r:id="rId26"/>
    <p:sldId id="280" r:id="rId27"/>
    <p:sldId id="281" r:id="rId28"/>
    <p:sldId id="282" r:id="rId29"/>
    <p:sldId id="284" r:id="rId30"/>
    <p:sldId id="285" r:id="rId31"/>
    <p:sldId id="283"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varScale="1">
        <p:scale>
          <a:sx n="79" d="100"/>
          <a:sy n="79" d="100"/>
        </p:scale>
        <p:origin x="-222" y="-78"/>
      </p:cViewPr>
      <p:guideLst>
        <p:guide orient="horz" pos="2160"/>
        <p:guide pos="3840"/>
      </p:guideLst>
    </p:cSldViewPr>
  </p:slideViewPr>
  <p:notesTextViewPr>
    <p:cViewPr>
      <p:scale>
        <a:sx n="1" d="1"/>
        <a:sy n="1" d="1"/>
      </p:scale>
      <p:origin x="0" y="0"/>
    </p:cViewPr>
  </p:notesTextViewPr>
  <p:notesViewPr>
    <p:cSldViewPr showGuides="1">
      <p:cViewPr varScale="1">
        <p:scale>
          <a:sx n="63" d="100"/>
          <a:sy n="63" d="100"/>
        </p:scale>
        <p:origin x="2838" y="108"/>
      </p:cViewPr>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2B48F5-BACC-47D6-A0F7-82FBF9C6BC85}" type="datetimeFigureOut">
              <a:rPr lang="en-US"/>
              <a:pPr/>
              <a:t>11/28/2020</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5ACAF8E-318A-4EFE-8633-D9E72ABCE0ED}" type="slidenum">
              <a:rPr/>
              <a:pPr/>
              <a:t>‹#›</a:t>
            </a:fld>
            <a:endParaRPr/>
          </a:p>
        </p:txBody>
      </p:sp>
    </p:spTree>
    <p:extLst>
      <p:ext uri="{BB962C8B-B14F-4D97-AF65-F5344CB8AC3E}">
        <p14:creationId xmlns="" xmlns:p14="http://schemas.microsoft.com/office/powerpoint/2010/main" val="2406559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B1CD00-5424-4675-AB18-2C419B060449}" type="datetimeFigureOut">
              <a:rPr lang="en-US"/>
              <a:pPr/>
              <a:t>11/28/2020</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E2CF44-2B13-41B4-A334-1CDF534EEBBF}" type="slidenum">
              <a:rPr/>
              <a:pPr/>
              <a:t>‹#›</a:t>
            </a:fld>
            <a:endParaRPr/>
          </a:p>
        </p:txBody>
      </p:sp>
    </p:spTree>
    <p:extLst>
      <p:ext uri="{BB962C8B-B14F-4D97-AF65-F5344CB8AC3E}">
        <p14:creationId xmlns="" xmlns:p14="http://schemas.microsoft.com/office/powerpoint/2010/main" val="445385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8" name="Rectangle 7"/>
          <p:cNvSpPr/>
          <p:nvPr userDrawn="1"/>
        </p:nvSpPr>
        <p:spPr bwMode="gray">
          <a:xfrm>
            <a:off x="0" y="2825016"/>
            <a:ext cx="12188952" cy="3180930"/>
          </a:xfrm>
          <a:prstGeom prst="rect">
            <a:avLst/>
          </a:prstGeom>
          <a:solidFill>
            <a:schemeClr val="bg1">
              <a:lumMod val="85000"/>
              <a:lumOff val="1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userDrawn="1"/>
        </p:nvSpPr>
        <p:spPr bwMode="black">
          <a:xfrm>
            <a:off x="0" y="3075709"/>
            <a:ext cx="12188952" cy="26392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bwMode="white">
          <a:xfrm>
            <a:off x="1066800" y="3165763"/>
            <a:ext cx="10058400" cy="1711037"/>
          </a:xfrm>
        </p:spPr>
        <p:txBody>
          <a:bodyPr anchor="b">
            <a:normAutofit/>
          </a:bodyPr>
          <a:lstStyle>
            <a:lvl1pPr algn="l">
              <a:lnSpc>
                <a:spcPct val="80000"/>
              </a:lnSpc>
              <a:defRPr sz="5400">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bwMode="white">
          <a:xfrm>
            <a:off x="1066800" y="4953000"/>
            <a:ext cx="10058400" cy="685800"/>
          </a:xfrm>
        </p:spPr>
        <p:txBody>
          <a:bodyPr>
            <a:normAutofit/>
          </a:bodyPr>
          <a:lstStyle>
            <a:lvl1pPr marL="0" indent="0" algn="l">
              <a:spcBef>
                <a:spcPts val="0"/>
              </a:spcBef>
              <a:buNone/>
              <a:defRPr sz="2000">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Tree>
    <p:extLst>
      <p:ext uri="{BB962C8B-B14F-4D97-AF65-F5344CB8AC3E}">
        <p14:creationId xmlns="" xmlns:p14="http://schemas.microsoft.com/office/powerpoint/2010/main" val="798862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4" name="Date Placeholder 3"/>
          <p:cNvSpPr>
            <a:spLocks noGrp="1"/>
          </p:cNvSpPr>
          <p:nvPr>
            <p:ph type="dt" sz="half" idx="10"/>
          </p:nvPr>
        </p:nvSpPr>
        <p:spPr/>
        <p:txBody>
          <a:bodyPr/>
          <a:lstStyle/>
          <a:p>
            <a:fld id="{37CC0096-1860-4642-9CD2-0079EA5E7CD1}" type="datetimeFigureOut">
              <a:rPr lang="en-US" smtClean="0"/>
              <a:pPr/>
              <a:t>11/28/2020</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pPr/>
              <a:t>‹#›</a:t>
            </a:fld>
            <a:endParaRPr lang="en-US"/>
          </a:p>
        </p:txBody>
      </p:sp>
    </p:spTree>
    <p:extLst>
      <p:ext uri="{BB962C8B-B14F-4D97-AF65-F5344CB8AC3E}">
        <p14:creationId xmlns="" xmlns:p14="http://schemas.microsoft.com/office/powerpoint/2010/main" val="31124441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4000" y="1828800"/>
            <a:ext cx="9144000" cy="2743200"/>
          </a:xfrm>
        </p:spPr>
        <p:txBody>
          <a:bodyPr anchor="b">
            <a:normAutofit/>
          </a:bodyPr>
          <a:lstStyle>
            <a:lvl1pPr>
              <a:defRPr sz="5400">
                <a:solidFill>
                  <a:schemeClr val="tx1"/>
                </a:solidFill>
              </a:defRPr>
            </a:lvl1pPr>
          </a:lstStyle>
          <a:p>
            <a:r>
              <a:rPr lang="en-US" smtClean="0"/>
              <a:t>Click to edit Master title style</a:t>
            </a:r>
            <a:endParaRPr lang="en-US"/>
          </a:p>
        </p:txBody>
      </p:sp>
      <p:sp>
        <p:nvSpPr>
          <p:cNvPr id="3" name="Text Placeholder 2"/>
          <p:cNvSpPr>
            <a:spLocks noGrp="1"/>
          </p:cNvSpPr>
          <p:nvPr>
            <p:ph type="body" idx="1"/>
          </p:nvPr>
        </p:nvSpPr>
        <p:spPr>
          <a:xfrm>
            <a:off x="1524000" y="4589463"/>
            <a:ext cx="9144000" cy="1506537"/>
          </a:xfrm>
        </p:spPr>
        <p:txBody>
          <a:bodyPr>
            <a:normAutofit/>
          </a:bodyPr>
          <a:lstStyle>
            <a:lvl1pPr marL="0" indent="0">
              <a:spcBef>
                <a:spcPts val="0"/>
              </a:spcBef>
              <a:buNone/>
              <a:defRPr sz="2000">
                <a:solidFill>
                  <a:schemeClr val="accent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Tree>
    <p:extLst>
      <p:ext uri="{BB962C8B-B14F-4D97-AF65-F5344CB8AC3E}">
        <p14:creationId xmlns="" xmlns:p14="http://schemas.microsoft.com/office/powerpoint/2010/main" val="3506778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524000" y="1825625"/>
            <a:ext cx="4343400" cy="4270375"/>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324600" y="1825625"/>
            <a:ext cx="4343400" cy="4270375"/>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7CC0096-1860-4642-9CD2-0079EA5E7CD1}" type="datetimeFigureOut">
              <a:rPr lang="en-US" smtClean="0"/>
              <a:pPr/>
              <a:t>11/28/2020</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pPr/>
              <a:t>‹#›</a:t>
            </a:fld>
            <a:endParaRPr lang="en-US"/>
          </a:p>
        </p:txBody>
      </p:sp>
    </p:spTree>
    <p:extLst>
      <p:ext uri="{BB962C8B-B14F-4D97-AF65-F5344CB8AC3E}">
        <p14:creationId xmlns="" xmlns:p14="http://schemas.microsoft.com/office/powerpoint/2010/main" val="4044567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a:xfrm>
            <a:off x="1527048" y="1828800"/>
            <a:ext cx="4343400" cy="685800"/>
          </a:xfrm>
        </p:spPr>
        <p:txBody>
          <a:bodyPr anchor="ctr">
            <a:normAutofit/>
          </a:bodyPr>
          <a:lstStyle>
            <a:lvl1pPr marL="0" indent="0">
              <a:spcBef>
                <a:spcPts val="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527048" y="2514600"/>
            <a:ext cx="4343400" cy="3581401"/>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27648" y="1828800"/>
            <a:ext cx="4343400" cy="685800"/>
          </a:xfrm>
        </p:spPr>
        <p:txBody>
          <a:bodyPr anchor="ctr">
            <a:normAutofit/>
          </a:bodyPr>
          <a:lstStyle>
            <a:lvl1pPr marL="0" indent="0">
              <a:spcBef>
                <a:spcPts val="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327648" y="2514600"/>
            <a:ext cx="4343400" cy="3581401"/>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Footer Placeholder 7"/>
          <p:cNvSpPr>
            <a:spLocks noGrp="1"/>
          </p:cNvSpPr>
          <p:nvPr>
            <p:ph type="ftr" sz="quarter" idx="11"/>
          </p:nvPr>
        </p:nvSpPr>
        <p:spPr/>
        <p:txBody>
          <a:bodyPr/>
          <a:lstStyle/>
          <a:p>
            <a:endParaRPr lang="en-US"/>
          </a:p>
        </p:txBody>
      </p:sp>
      <p:sp>
        <p:nvSpPr>
          <p:cNvPr id="7" name="Date Placeholder 6"/>
          <p:cNvSpPr>
            <a:spLocks noGrp="1"/>
          </p:cNvSpPr>
          <p:nvPr>
            <p:ph type="dt" sz="half" idx="10"/>
          </p:nvPr>
        </p:nvSpPr>
        <p:spPr/>
        <p:txBody>
          <a:bodyPr/>
          <a:lstStyle/>
          <a:p>
            <a:fld id="{37CC0096-1860-4642-9CD2-0079EA5E7CD1}" type="datetimeFigureOut">
              <a:rPr lang="en-US" smtClean="0"/>
              <a:pPr/>
              <a:t>11/28/2020</a:t>
            </a:fld>
            <a:endParaRPr lang="en-US"/>
          </a:p>
        </p:txBody>
      </p:sp>
      <p:sp>
        <p:nvSpPr>
          <p:cNvPr id="9" name="Slide Number Placeholder 8"/>
          <p:cNvSpPr>
            <a:spLocks noGrp="1"/>
          </p:cNvSpPr>
          <p:nvPr>
            <p:ph type="sldNum" sz="quarter" idx="12"/>
          </p:nvPr>
        </p:nvSpPr>
        <p:spPr/>
        <p:txBody>
          <a:bodyPr/>
          <a:lstStyle/>
          <a:p>
            <a:fld id="{E31375A4-56A4-47D6-9801-1991572033F7}" type="slidenum">
              <a:rPr lang="en-US" smtClean="0"/>
              <a:pPr/>
              <a:t>‹#›</a:t>
            </a:fld>
            <a:endParaRPr lang="en-US"/>
          </a:p>
        </p:txBody>
      </p:sp>
    </p:spTree>
    <p:extLst>
      <p:ext uri="{BB962C8B-B14F-4D97-AF65-F5344CB8AC3E}">
        <p14:creationId xmlns="" xmlns:p14="http://schemas.microsoft.com/office/powerpoint/2010/main" val="3397906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Footer Placeholder 3"/>
          <p:cNvSpPr>
            <a:spLocks noGrp="1"/>
          </p:cNvSpPr>
          <p:nvPr>
            <p:ph type="ftr" sz="quarter" idx="11"/>
          </p:nvPr>
        </p:nvSpPr>
        <p:spPr/>
        <p:txBody>
          <a:bodyPr/>
          <a:lstStyle/>
          <a:p>
            <a:endParaRPr lang="en-US"/>
          </a:p>
        </p:txBody>
      </p:sp>
      <p:sp>
        <p:nvSpPr>
          <p:cNvPr id="3" name="Date Placeholder 2"/>
          <p:cNvSpPr>
            <a:spLocks noGrp="1"/>
          </p:cNvSpPr>
          <p:nvPr>
            <p:ph type="dt" sz="half" idx="10"/>
          </p:nvPr>
        </p:nvSpPr>
        <p:spPr/>
        <p:txBody>
          <a:bodyPr/>
          <a:lstStyle/>
          <a:p>
            <a:fld id="{37CC0096-1860-4642-9CD2-0079EA5E7CD1}" type="datetimeFigureOut">
              <a:rPr lang="en-US" smtClean="0"/>
              <a:pPr/>
              <a:t>11/28/2020</a:t>
            </a:fld>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pPr/>
              <a:t>‹#›</a:t>
            </a:fld>
            <a:endParaRPr lang="en-US"/>
          </a:p>
        </p:txBody>
      </p:sp>
    </p:spTree>
    <p:extLst>
      <p:ext uri="{BB962C8B-B14F-4D97-AF65-F5344CB8AC3E}">
        <p14:creationId xmlns="" xmlns:p14="http://schemas.microsoft.com/office/powerpoint/2010/main" val="3238976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2" name="Date Placeholder 1"/>
          <p:cNvSpPr>
            <a:spLocks noGrp="1"/>
          </p:cNvSpPr>
          <p:nvPr>
            <p:ph type="dt" sz="half" idx="10"/>
          </p:nvPr>
        </p:nvSpPr>
        <p:spPr/>
        <p:txBody>
          <a:bodyPr/>
          <a:lstStyle/>
          <a:p>
            <a:fld id="{37CC0096-1860-4642-9CD2-0079EA5E7CD1}" type="datetimeFigureOut">
              <a:rPr lang="en-US" smtClean="0"/>
              <a:pPr/>
              <a:t>11/28/2020</a:t>
            </a:fld>
            <a:endParaRPr lang="en-US"/>
          </a:p>
        </p:txBody>
      </p:sp>
      <p:sp>
        <p:nvSpPr>
          <p:cNvPr id="4" name="Slide Number Placeholder 3"/>
          <p:cNvSpPr>
            <a:spLocks noGrp="1"/>
          </p:cNvSpPr>
          <p:nvPr>
            <p:ph type="sldNum" sz="quarter" idx="12"/>
          </p:nvPr>
        </p:nvSpPr>
        <p:spPr/>
        <p:txBody>
          <a:bodyPr/>
          <a:lstStyle/>
          <a:p>
            <a:fld id="{E31375A4-56A4-47D6-9801-1991572033F7}" type="slidenum">
              <a:rPr lang="en-US" smtClean="0"/>
              <a:pPr/>
              <a:t>‹#›</a:t>
            </a:fld>
            <a:endParaRPr lang="en-US"/>
          </a:p>
        </p:txBody>
      </p:sp>
    </p:spTree>
    <p:extLst>
      <p:ext uri="{BB962C8B-B14F-4D97-AF65-F5344CB8AC3E}">
        <p14:creationId xmlns="" xmlns:p14="http://schemas.microsoft.com/office/powerpoint/2010/main" val="2146817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002587" y="1600200"/>
            <a:ext cx="3122613" cy="1828800"/>
          </a:xfrm>
        </p:spPr>
        <p:txBody>
          <a:bodyPr anchor="b">
            <a:normAutofit/>
          </a:bodyPr>
          <a:lstStyle>
            <a:lvl1pPr>
              <a:defRPr sz="3400"/>
            </a:lvl1pPr>
          </a:lstStyle>
          <a:p>
            <a:r>
              <a:rPr lang="en-US" smtClean="0"/>
              <a:t>Click to edit Master title style</a:t>
            </a:r>
            <a:endParaRPr lang="en-US" dirty="0"/>
          </a:p>
        </p:txBody>
      </p:sp>
      <p:sp>
        <p:nvSpPr>
          <p:cNvPr id="3" name="Content Placeholder 2"/>
          <p:cNvSpPr>
            <a:spLocks noGrp="1"/>
          </p:cNvSpPr>
          <p:nvPr>
            <p:ph idx="1"/>
          </p:nvPr>
        </p:nvSpPr>
        <p:spPr>
          <a:xfrm>
            <a:off x="760412" y="762000"/>
            <a:ext cx="6400800" cy="5334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001039" y="3429000"/>
            <a:ext cx="3124161" cy="1828800"/>
          </a:xfrm>
        </p:spPr>
        <p:txBody>
          <a:bodyPr/>
          <a:lstStyle>
            <a:lvl1pPr marL="0" indent="0">
              <a:spcBef>
                <a:spcPts val="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7CC0096-1860-4642-9CD2-0079EA5E7CD1}" type="datetimeFigureOut">
              <a:rPr lang="en-US" smtClean="0"/>
              <a:pPr/>
              <a:t>11/28/2020</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pPr/>
              <a:t>‹#›</a:t>
            </a:fld>
            <a:endParaRPr lang="en-US"/>
          </a:p>
        </p:txBody>
      </p:sp>
    </p:spTree>
    <p:extLst>
      <p:ext uri="{BB962C8B-B14F-4D97-AF65-F5344CB8AC3E}">
        <p14:creationId xmlns="" xmlns:p14="http://schemas.microsoft.com/office/powerpoint/2010/main" val="1667374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997952" y="1600200"/>
            <a:ext cx="3127248" cy="1828800"/>
          </a:xfrm>
        </p:spPr>
        <p:txBody>
          <a:bodyPr anchor="b">
            <a:normAutofit/>
          </a:bodyPr>
          <a:lstStyle>
            <a:lvl1pPr>
              <a:defRPr sz="3400"/>
            </a:lvl1pPr>
          </a:lstStyle>
          <a:p>
            <a:r>
              <a:rPr lang="en-US" smtClean="0"/>
              <a:t>Click to edit Master title style</a:t>
            </a:r>
            <a:endParaRPr lang="en-US"/>
          </a:p>
        </p:txBody>
      </p:sp>
      <p:sp>
        <p:nvSpPr>
          <p:cNvPr id="3" name="Picture Placeholder 2"/>
          <p:cNvSpPr>
            <a:spLocks noGrp="1"/>
          </p:cNvSpPr>
          <p:nvPr>
            <p:ph type="pic" idx="1"/>
          </p:nvPr>
        </p:nvSpPr>
        <p:spPr>
          <a:xfrm>
            <a:off x="781251" y="777240"/>
            <a:ext cx="6400800" cy="5303520"/>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7997952" y="3429000"/>
            <a:ext cx="3127248" cy="1828800"/>
          </a:xfrm>
        </p:spPr>
        <p:txBody>
          <a:bodyPr/>
          <a:lstStyle>
            <a:lvl1pPr marL="0" indent="0">
              <a:spcBef>
                <a:spcPts val="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8" name="Rectangle 7" descr="An empty placeholder to add an image. Click on the placeholder and select the image that you wish to add."/>
          <p:cNvSpPr/>
          <p:nvPr userDrawn="1"/>
        </p:nvSpPr>
        <p:spPr bwMode="blackWhite">
          <a:xfrm>
            <a:off x="644091" y="640080"/>
            <a:ext cx="6675120" cy="5577840"/>
          </a:xfrm>
          <a:prstGeom prst="rect">
            <a:avLst/>
          </a:prstGeom>
          <a:solidFill>
            <a:srgbClr val="000000"/>
          </a:solidFill>
          <a:ln w="1016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7CC0096-1860-4642-9CD2-0079EA5E7CD1}" type="datetimeFigureOut">
              <a:rPr lang="en-US" smtClean="0"/>
              <a:pPr/>
              <a:t>11/28/2020</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pPr/>
              <a:t>‹#›</a:t>
            </a:fld>
            <a:endParaRPr lang="en-US"/>
          </a:p>
        </p:txBody>
      </p:sp>
    </p:spTree>
    <p:extLst>
      <p:ext uri="{BB962C8B-B14F-4D97-AF65-F5344CB8AC3E}">
        <p14:creationId xmlns="" xmlns:p14="http://schemas.microsoft.com/office/powerpoint/2010/main" val="2977249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37CC0096-1860-4642-9CD2-0079EA5E7CD1}" type="datetimeFigureOut">
              <a:rPr lang="en-US" smtClean="0"/>
              <a:pPr/>
              <a:t>11/28/2020</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pPr/>
              <a:t>‹#›</a:t>
            </a:fld>
            <a:endParaRPr lang="en-US"/>
          </a:p>
        </p:txBody>
      </p:sp>
    </p:spTree>
    <p:extLst>
      <p:ext uri="{BB962C8B-B14F-4D97-AF65-F5344CB8AC3E}">
        <p14:creationId xmlns="" xmlns:p14="http://schemas.microsoft.com/office/powerpoint/2010/main" val="2477154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457199"/>
            <a:ext cx="1943100" cy="5638801"/>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524000" y="457199"/>
            <a:ext cx="7048500" cy="563880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37CC0096-1860-4642-9CD2-0079EA5E7CD1}" type="datetimeFigureOut">
              <a:rPr lang="en-US" smtClean="0"/>
              <a:pPr/>
              <a:t>11/28/2020</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pPr/>
              <a:t>‹#›</a:t>
            </a:fld>
            <a:endParaRPr lang="en-US"/>
          </a:p>
        </p:txBody>
      </p:sp>
    </p:spTree>
    <p:extLst>
      <p:ext uri="{BB962C8B-B14F-4D97-AF65-F5344CB8AC3E}">
        <p14:creationId xmlns="" xmlns:p14="http://schemas.microsoft.com/office/powerpoint/2010/main" val="2524635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4000" y="457200"/>
            <a:ext cx="9144000" cy="1143000"/>
          </a:xfrm>
          <a:prstGeom prst="rect">
            <a:avLst/>
          </a:prstGeom>
        </p:spPr>
        <p:txBody>
          <a:bodyPr vert="horz" lIns="91440" tIns="45720" rIns="91440" bIns="45720" rtlCol="0" anchor="b">
            <a:normAutofit/>
          </a:bodyPr>
          <a:lstStyle/>
          <a:p>
            <a:r>
              <a:rPr lang="en-US" smtClean="0"/>
              <a:t>Click to edit Master title style</a:t>
            </a:r>
            <a:endParaRPr/>
          </a:p>
        </p:txBody>
      </p:sp>
      <p:sp>
        <p:nvSpPr>
          <p:cNvPr id="3" name="Text Placeholder 2"/>
          <p:cNvSpPr>
            <a:spLocks noGrp="1"/>
          </p:cNvSpPr>
          <p:nvPr>
            <p:ph type="body" idx="1"/>
          </p:nvPr>
        </p:nvSpPr>
        <p:spPr>
          <a:xfrm>
            <a:off x="1524000" y="1828800"/>
            <a:ext cx="9144000" cy="4267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3"/>
          </p:nvPr>
        </p:nvSpPr>
        <p:spPr>
          <a:xfrm>
            <a:off x="1524000" y="6362700"/>
            <a:ext cx="6881553" cy="257176"/>
          </a:xfrm>
          <a:prstGeom prst="rect">
            <a:avLst/>
          </a:prstGeom>
        </p:spPr>
        <p:txBody>
          <a:bodyPr vert="horz" lIns="91440" tIns="45720" rIns="91440" bIns="45720" rtlCol="0" anchor="ctr"/>
          <a:lstStyle>
            <a:lvl1pPr algn="l">
              <a:defRPr sz="1100">
                <a:solidFill>
                  <a:schemeClr val="tx1">
                    <a:lumMod val="85000"/>
                  </a:schemeClr>
                </a:solidFill>
              </a:defRPr>
            </a:lvl1pPr>
          </a:lstStyle>
          <a:p>
            <a:endParaRPr lang="en-US" dirty="0"/>
          </a:p>
        </p:txBody>
      </p:sp>
      <p:sp>
        <p:nvSpPr>
          <p:cNvPr id="4" name="Date Placeholder 3"/>
          <p:cNvSpPr>
            <a:spLocks noGrp="1"/>
          </p:cNvSpPr>
          <p:nvPr>
            <p:ph type="dt" sz="half" idx="2"/>
          </p:nvPr>
        </p:nvSpPr>
        <p:spPr>
          <a:xfrm>
            <a:off x="8610600" y="6362700"/>
            <a:ext cx="990600" cy="257176"/>
          </a:xfrm>
          <a:prstGeom prst="rect">
            <a:avLst/>
          </a:prstGeom>
        </p:spPr>
        <p:txBody>
          <a:bodyPr vert="horz" lIns="91440" tIns="45720" rIns="91440" bIns="45720" rtlCol="0" anchor="ctr"/>
          <a:lstStyle>
            <a:lvl1pPr algn="r">
              <a:defRPr sz="1100">
                <a:solidFill>
                  <a:schemeClr val="tx1">
                    <a:lumMod val="85000"/>
                  </a:schemeClr>
                </a:solidFill>
              </a:defRPr>
            </a:lvl1pPr>
          </a:lstStyle>
          <a:p>
            <a:fld id="{37CC0096-1860-4642-9CD2-0079EA5E7CD1}" type="datetimeFigureOut">
              <a:rPr lang="en-US" smtClean="0"/>
              <a:pPr/>
              <a:t>11/28/2020</a:t>
            </a:fld>
            <a:endParaRPr lang="en-US"/>
          </a:p>
        </p:txBody>
      </p:sp>
      <p:sp>
        <p:nvSpPr>
          <p:cNvPr id="6" name="Slide Number Placeholder 5"/>
          <p:cNvSpPr>
            <a:spLocks noGrp="1"/>
          </p:cNvSpPr>
          <p:nvPr>
            <p:ph type="sldNum" sz="quarter" idx="4"/>
          </p:nvPr>
        </p:nvSpPr>
        <p:spPr>
          <a:xfrm>
            <a:off x="9829800" y="6362700"/>
            <a:ext cx="838200" cy="257176"/>
          </a:xfrm>
          <a:prstGeom prst="rect">
            <a:avLst/>
          </a:prstGeom>
        </p:spPr>
        <p:txBody>
          <a:bodyPr vert="horz" lIns="91440" tIns="45720" rIns="91440" bIns="45720" rtlCol="0" anchor="ctr"/>
          <a:lstStyle>
            <a:lvl1pPr algn="r">
              <a:defRPr sz="1100">
                <a:solidFill>
                  <a:schemeClr val="tx1">
                    <a:lumMod val="85000"/>
                  </a:schemeClr>
                </a:solidFill>
              </a:defRPr>
            </a:lvl1pPr>
          </a:lstStyle>
          <a:p>
            <a:fld id="{E31375A4-56A4-47D6-9801-1991572033F7}" type="slidenum">
              <a:rPr lang="en-US" smtClean="0"/>
              <a:pPr/>
              <a:t>‹#›</a:t>
            </a:fld>
            <a:endParaRPr lang="en-US"/>
          </a:p>
        </p:txBody>
      </p:sp>
    </p:spTree>
    <p:extLst>
      <p:ext uri="{BB962C8B-B14F-4D97-AF65-F5344CB8AC3E}">
        <p14:creationId xmlns="" xmlns:p14="http://schemas.microsoft.com/office/powerpoint/2010/main" val="1943259863"/>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4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buClr>
        <a:buFont typeface="Arial" pitchFamily="34" charset="0"/>
        <a:buChar char="•"/>
        <a:defRPr sz="2000" kern="1200">
          <a:solidFill>
            <a:schemeClr val="tx1">
              <a:lumMod val="85000"/>
            </a:schemeClr>
          </a:solidFill>
          <a:latin typeface="+mn-lt"/>
          <a:ea typeface="+mn-ea"/>
          <a:cs typeface="+mn-cs"/>
        </a:defRPr>
      </a:lvl1pPr>
      <a:lvl2pPr marL="594360" indent="-228600" algn="l" defTabSz="914400" rtl="0" eaLnBrk="1" latinLnBrk="0" hangingPunct="1">
        <a:lnSpc>
          <a:spcPct val="90000"/>
        </a:lnSpc>
        <a:spcBef>
          <a:spcPts val="1000"/>
        </a:spcBef>
        <a:buClr>
          <a:schemeClr val="accent1"/>
        </a:buClr>
        <a:buFont typeface="Arial" pitchFamily="34" charset="0"/>
        <a:buChar char="•"/>
        <a:defRPr sz="1800" kern="1200">
          <a:solidFill>
            <a:schemeClr val="tx1">
              <a:lumMod val="85000"/>
            </a:schemeClr>
          </a:solidFill>
          <a:latin typeface="+mn-lt"/>
          <a:ea typeface="+mn-ea"/>
          <a:cs typeface="+mn-cs"/>
        </a:defRPr>
      </a:lvl2pPr>
      <a:lvl3pPr marL="914400" indent="-228600" algn="l" defTabSz="914400" rtl="0" eaLnBrk="1" latinLnBrk="0" hangingPunct="1">
        <a:lnSpc>
          <a:spcPct val="90000"/>
        </a:lnSpc>
        <a:spcBef>
          <a:spcPts val="800"/>
        </a:spcBef>
        <a:buClr>
          <a:schemeClr val="accent1"/>
        </a:buClr>
        <a:buFont typeface="Arial" pitchFamily="34" charset="0"/>
        <a:buChar char="•"/>
        <a:defRPr sz="1600" kern="1200">
          <a:solidFill>
            <a:schemeClr val="tx1">
              <a:lumMod val="85000"/>
            </a:schemeClr>
          </a:solidFill>
          <a:latin typeface="+mn-lt"/>
          <a:ea typeface="+mn-ea"/>
          <a:cs typeface="+mn-cs"/>
        </a:defRPr>
      </a:lvl3pPr>
      <a:lvl4pPr marL="123444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lumMod val="85000"/>
            </a:schemeClr>
          </a:solidFill>
          <a:latin typeface="+mn-lt"/>
          <a:ea typeface="+mn-ea"/>
          <a:cs typeface="+mn-cs"/>
        </a:defRPr>
      </a:lvl4pPr>
      <a:lvl5pPr marL="150876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lumMod val="85000"/>
            </a:schemeClr>
          </a:solidFill>
          <a:latin typeface="+mn-lt"/>
          <a:ea typeface="+mn-ea"/>
          <a:cs typeface="+mn-cs"/>
        </a:defRPr>
      </a:lvl5pPr>
      <a:lvl6pPr marL="178308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6pPr>
      <a:lvl7pPr marL="205740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7pPr>
      <a:lvl8pPr marL="233172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8pPr>
      <a:lvl9pPr marL="260604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7200" dirty="0" smtClean="0"/>
              <a:t>RTOS	</a:t>
            </a:r>
            <a:endParaRPr sz="7200" dirty="0"/>
          </a:p>
        </p:txBody>
      </p:sp>
    </p:spTree>
    <p:extLst>
      <p:ext uri="{BB962C8B-B14F-4D97-AF65-F5344CB8AC3E}">
        <p14:creationId xmlns="" xmlns:p14="http://schemas.microsoft.com/office/powerpoint/2010/main" val="242453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GPOS </a:t>
            </a:r>
            <a:r>
              <a:rPr lang="en-US" dirty="0" err="1" smtClean="0"/>
              <a:t>vs</a:t>
            </a:r>
            <a:r>
              <a:rPr lang="en-US" dirty="0" smtClean="0"/>
              <a:t> RTOS</a:t>
            </a:r>
            <a:endParaRPr lang="en-US" dirty="0"/>
          </a:p>
        </p:txBody>
      </p:sp>
      <p:sp>
        <p:nvSpPr>
          <p:cNvPr id="3" name="Content Placeholder 2"/>
          <p:cNvSpPr>
            <a:spLocks noGrp="1"/>
          </p:cNvSpPr>
          <p:nvPr>
            <p:ph sz="half" idx="1"/>
          </p:nvPr>
        </p:nvSpPr>
        <p:spPr/>
        <p:txBody>
          <a:bodyPr/>
          <a:lstStyle/>
          <a:p>
            <a:pPr marL="0" indent="0">
              <a:buNone/>
            </a:pPr>
            <a:r>
              <a:rPr lang="en-US" dirty="0" smtClean="0"/>
              <a:t>GPOS</a:t>
            </a:r>
          </a:p>
          <a:p>
            <a:r>
              <a:rPr lang="en-US" dirty="0"/>
              <a:t>used for systems/applications that are not time </a:t>
            </a:r>
            <a:r>
              <a:rPr lang="en-US" dirty="0" smtClean="0"/>
              <a:t>critical.</a:t>
            </a:r>
          </a:p>
          <a:p>
            <a:r>
              <a:rPr lang="en-US" dirty="0" err="1" smtClean="0"/>
              <a:t>Eg</a:t>
            </a:r>
            <a:r>
              <a:rPr lang="en-US" dirty="0" smtClean="0"/>
              <a:t>. Windows, Linux, </a:t>
            </a:r>
            <a:r>
              <a:rPr lang="en-US" dirty="0" err="1" smtClean="0"/>
              <a:t>MacOS</a:t>
            </a:r>
            <a:r>
              <a:rPr lang="en-US" dirty="0"/>
              <a:t>.</a:t>
            </a:r>
          </a:p>
        </p:txBody>
      </p:sp>
      <p:sp>
        <p:nvSpPr>
          <p:cNvPr id="4" name="Content Placeholder 3"/>
          <p:cNvSpPr>
            <a:spLocks noGrp="1"/>
          </p:cNvSpPr>
          <p:nvPr>
            <p:ph sz="half" idx="2"/>
          </p:nvPr>
        </p:nvSpPr>
        <p:spPr/>
        <p:txBody>
          <a:bodyPr/>
          <a:lstStyle/>
          <a:p>
            <a:pPr marL="0" indent="0">
              <a:buNone/>
            </a:pPr>
            <a:r>
              <a:rPr lang="en-US" dirty="0" smtClean="0"/>
              <a:t>RTOS</a:t>
            </a:r>
          </a:p>
          <a:p>
            <a:r>
              <a:rPr lang="en-US" b="1" dirty="0"/>
              <a:t> is</a:t>
            </a:r>
            <a:r>
              <a:rPr lang="en-US" dirty="0"/>
              <a:t> used for time critical </a:t>
            </a:r>
            <a:r>
              <a:rPr lang="en-US" dirty="0" smtClean="0"/>
              <a:t>systems.</a:t>
            </a:r>
          </a:p>
          <a:p>
            <a:r>
              <a:rPr lang="en-US" dirty="0" err="1" smtClean="0"/>
              <a:t>Eg</a:t>
            </a:r>
            <a:r>
              <a:rPr lang="en-US" dirty="0" smtClean="0"/>
              <a:t>. </a:t>
            </a:r>
            <a:r>
              <a:rPr lang="en-US" dirty="0" err="1" smtClean="0"/>
              <a:t>Freertos</a:t>
            </a:r>
            <a:r>
              <a:rPr lang="en-US" dirty="0" smtClean="0"/>
              <a:t>, </a:t>
            </a:r>
            <a:r>
              <a:rPr lang="en-US" dirty="0" err="1" smtClean="0"/>
              <a:t>usOS</a:t>
            </a:r>
            <a:r>
              <a:rPr lang="en-US" dirty="0" smtClean="0"/>
              <a:t>, </a:t>
            </a:r>
            <a:r>
              <a:rPr lang="en-US" dirty="0" err="1" smtClean="0"/>
              <a:t>vxWorks</a:t>
            </a:r>
            <a:r>
              <a:rPr lang="en-US" dirty="0" smtClean="0"/>
              <a:t>.</a:t>
            </a:r>
          </a:p>
          <a:p>
            <a:endParaRPr lang="en-US" dirty="0" smtClean="0"/>
          </a:p>
          <a:p>
            <a:endParaRPr lang="en-US" dirty="0" smtClean="0"/>
          </a:p>
          <a:p>
            <a:endParaRPr lang="en-US" dirty="0"/>
          </a:p>
        </p:txBody>
      </p:sp>
    </p:spTree>
    <p:extLst>
      <p:ext uri="{BB962C8B-B14F-4D97-AF65-F5344CB8AC3E}">
        <p14:creationId xmlns="" xmlns:p14="http://schemas.microsoft.com/office/powerpoint/2010/main" val="641505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990600"/>
            <a:ext cx="9144000" cy="1143000"/>
          </a:xfrm>
        </p:spPr>
        <p:txBody>
          <a:bodyPr>
            <a:noAutofit/>
          </a:bodyPr>
          <a:lstStyle/>
          <a:p>
            <a:pPr algn="ctr"/>
            <a:r>
              <a:rPr lang="en-US" sz="4800" b="1" dirty="0"/>
              <a:t>Types of Real Time Systems</a:t>
            </a:r>
            <a:r>
              <a:rPr lang="en-US" sz="4800" dirty="0"/>
              <a:t> </a:t>
            </a:r>
            <a:br>
              <a:rPr lang="en-US" sz="4800" dirty="0"/>
            </a:br>
            <a:endParaRPr lang="en-US" sz="4800" dirty="0"/>
          </a:p>
        </p:txBody>
      </p:sp>
      <p:sp>
        <p:nvSpPr>
          <p:cNvPr id="4" name="Text Placeholder 3"/>
          <p:cNvSpPr>
            <a:spLocks noGrp="1"/>
          </p:cNvSpPr>
          <p:nvPr>
            <p:ph idx="1"/>
          </p:nvPr>
        </p:nvSpPr>
        <p:spPr/>
        <p:txBody>
          <a:bodyPr>
            <a:noAutofit/>
          </a:bodyPr>
          <a:lstStyle/>
          <a:p>
            <a:pPr marL="285750" indent="-285750">
              <a:buFont typeface="Arial" panose="020B0604020202020204" pitchFamily="34" charset="0"/>
              <a:buChar char="•"/>
            </a:pPr>
            <a:r>
              <a:rPr lang="en-US" sz="3200" b="1" dirty="0"/>
              <a:t>Hard Real Time Systems </a:t>
            </a:r>
            <a:endParaRPr lang="en-US" sz="3200" dirty="0" smtClean="0"/>
          </a:p>
          <a:p>
            <a:pPr marL="285750" indent="-285750">
              <a:buFont typeface="Arial" panose="020B0604020202020204" pitchFamily="34" charset="0"/>
              <a:buChar char="•"/>
            </a:pPr>
            <a:r>
              <a:rPr lang="en-US" sz="3200" b="1" dirty="0"/>
              <a:t>Soft Real Time Systems</a:t>
            </a:r>
            <a:r>
              <a:rPr lang="en-US" sz="3200" dirty="0"/>
              <a:t> </a:t>
            </a:r>
            <a:endParaRPr lang="en-US" sz="3200" dirty="0" smtClean="0"/>
          </a:p>
          <a:p>
            <a:pPr marL="285750" indent="-285750">
              <a:buFont typeface="Arial" panose="020B0604020202020204" pitchFamily="34" charset="0"/>
              <a:buChar char="•"/>
            </a:pPr>
            <a:r>
              <a:rPr lang="en-US" sz="3200" b="1" dirty="0"/>
              <a:t>Firm Real Time Systems</a:t>
            </a:r>
            <a:r>
              <a:rPr lang="en-US" sz="3200" dirty="0"/>
              <a:t> </a:t>
            </a:r>
            <a:r>
              <a:rPr lang="en-US" sz="2400" dirty="0"/>
              <a:t/>
            </a:r>
            <a:br>
              <a:rPr lang="en-US" sz="2400" dirty="0"/>
            </a:br>
            <a:endParaRPr lang="en-US" sz="2400" dirty="0"/>
          </a:p>
        </p:txBody>
      </p:sp>
    </p:spTree>
    <p:extLst>
      <p:ext uri="{BB962C8B-B14F-4D97-AF65-F5344CB8AC3E}">
        <p14:creationId xmlns="" xmlns:p14="http://schemas.microsoft.com/office/powerpoint/2010/main" val="22121592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sz="3600" b="1" dirty="0"/>
              <a:t>Hard Real Time Systems </a:t>
            </a:r>
            <a:r>
              <a:rPr lang="en-US" sz="3600" dirty="0"/>
              <a:t/>
            </a:r>
            <a:br>
              <a:rPr lang="en-US" sz="3600" dirty="0"/>
            </a:br>
            <a:endParaRPr lang="en-US" dirty="0"/>
          </a:p>
        </p:txBody>
      </p:sp>
      <p:sp>
        <p:nvSpPr>
          <p:cNvPr id="6" name="Text Placeholder 5"/>
          <p:cNvSpPr>
            <a:spLocks noGrp="1"/>
          </p:cNvSpPr>
          <p:nvPr>
            <p:ph type="body" sz="half" idx="2"/>
          </p:nvPr>
        </p:nvSpPr>
        <p:spPr/>
        <p:txBody>
          <a:bodyPr>
            <a:noAutofit/>
          </a:bodyPr>
          <a:lstStyle/>
          <a:p>
            <a:r>
              <a:rPr lang="en-US" sz="3200" dirty="0"/>
              <a:t>Time is a hard</a:t>
            </a:r>
            <a:br>
              <a:rPr lang="en-US" sz="3200" dirty="0"/>
            </a:br>
            <a:r>
              <a:rPr lang="en-US" sz="3200" dirty="0"/>
              <a:t>constraint. A late response, even if correct </a:t>
            </a:r>
            <a:r>
              <a:rPr lang="en-US" sz="3200" dirty="0" smtClean="0"/>
              <a:t>is unacceptable</a:t>
            </a:r>
            <a:r>
              <a:rPr lang="en-US" sz="3200" dirty="0"/>
              <a:t>. </a:t>
            </a:r>
            <a:br>
              <a:rPr lang="en-US" sz="3200" dirty="0"/>
            </a:br>
            <a:endParaRPr lang="en-US" sz="3200" dirty="0"/>
          </a:p>
        </p:txBody>
      </p:sp>
      <p:pic>
        <p:nvPicPr>
          <p:cNvPr id="11" name="Content Placeholder 10"/>
          <p:cNvPicPr>
            <a:picLocks noGrp="1" noChangeAspect="1"/>
          </p:cNvPicPr>
          <p:nvPr>
            <p:ph idx="1"/>
          </p:nvPr>
        </p:nvPicPr>
        <p:blipFill>
          <a:blip r:embed="rId2" cstate="print">
            <a:extLst>
              <a:ext uri="{28A0092B-C50C-407E-A947-70E740481C1C}">
                <a14:useLocalDpi xmlns="" xmlns:a14="http://schemas.microsoft.com/office/drawing/2010/main" val="0"/>
              </a:ext>
            </a:extLst>
          </a:blip>
          <a:stretch>
            <a:fillRect/>
          </a:stretch>
        </p:blipFill>
        <p:spPr>
          <a:xfrm>
            <a:off x="760413" y="1473756"/>
            <a:ext cx="6400800" cy="3910488"/>
          </a:xfrm>
        </p:spPr>
      </p:pic>
    </p:spTree>
    <p:extLst>
      <p:ext uri="{BB962C8B-B14F-4D97-AF65-F5344CB8AC3E}">
        <p14:creationId xmlns="" xmlns:p14="http://schemas.microsoft.com/office/powerpoint/2010/main" val="26068303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t>Soft Real Time Systems</a:t>
            </a:r>
            <a:endParaRPr lang="en-US" sz="3200" dirty="0"/>
          </a:p>
        </p:txBody>
      </p:sp>
      <p:sp>
        <p:nvSpPr>
          <p:cNvPr id="4" name="Text Placeholder 3"/>
          <p:cNvSpPr>
            <a:spLocks noGrp="1"/>
          </p:cNvSpPr>
          <p:nvPr>
            <p:ph type="body" sz="half" idx="2"/>
          </p:nvPr>
        </p:nvSpPr>
        <p:spPr>
          <a:xfrm>
            <a:off x="8001039" y="3429000"/>
            <a:ext cx="3124161" cy="2667000"/>
          </a:xfrm>
        </p:spPr>
        <p:txBody>
          <a:bodyPr>
            <a:noAutofit/>
          </a:bodyPr>
          <a:lstStyle/>
          <a:p>
            <a:r>
              <a:rPr lang="en-US" sz="3200" dirty="0"/>
              <a:t>Must handle events</a:t>
            </a:r>
            <a:br>
              <a:rPr lang="en-US" sz="3200" dirty="0"/>
            </a:br>
            <a:r>
              <a:rPr lang="en-US" sz="3200" dirty="0"/>
              <a:t>promptly, but the constraints are not as well defined. </a:t>
            </a:r>
            <a:br>
              <a:rPr lang="en-US" sz="3200" dirty="0"/>
            </a:br>
            <a:endParaRPr lang="en-US" sz="3200" dirty="0"/>
          </a:p>
        </p:txBody>
      </p:sp>
      <p:pic>
        <p:nvPicPr>
          <p:cNvPr id="7" name="Content Placeholder 6"/>
          <p:cNvPicPr>
            <a:picLocks noGrp="1" noChangeAspect="1"/>
          </p:cNvPicPr>
          <p:nvPr>
            <p:ph idx="1"/>
          </p:nvPr>
        </p:nvPicPr>
        <p:blipFill>
          <a:blip r:embed="rId2" cstate="print">
            <a:extLst>
              <a:ext uri="{28A0092B-C50C-407E-A947-70E740481C1C}">
                <a14:useLocalDpi xmlns="" xmlns:a14="http://schemas.microsoft.com/office/drawing/2010/main" val="0"/>
              </a:ext>
            </a:extLst>
          </a:blip>
          <a:stretch>
            <a:fillRect/>
          </a:stretch>
        </p:blipFill>
        <p:spPr>
          <a:xfrm>
            <a:off x="760413" y="2097860"/>
            <a:ext cx="6400800" cy="2662279"/>
          </a:xfrm>
        </p:spPr>
      </p:pic>
    </p:spTree>
    <p:extLst>
      <p:ext uri="{BB962C8B-B14F-4D97-AF65-F5344CB8AC3E}">
        <p14:creationId xmlns="" xmlns:p14="http://schemas.microsoft.com/office/powerpoint/2010/main" val="2280128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t>Firm Real Time Systems</a:t>
            </a:r>
            <a:r>
              <a:rPr lang="en-US" sz="3200" dirty="0"/>
              <a:t> </a:t>
            </a:r>
            <a:br>
              <a:rPr lang="en-US" sz="3200" dirty="0"/>
            </a:br>
            <a:endParaRPr lang="en-US" sz="3200" dirty="0"/>
          </a:p>
        </p:txBody>
      </p:sp>
      <p:pic>
        <p:nvPicPr>
          <p:cNvPr id="5" name="Content Placeholder 4"/>
          <p:cNvPicPr>
            <a:picLocks noGrp="1" noChangeAspect="1"/>
          </p:cNvPicPr>
          <p:nvPr>
            <p:ph idx="1"/>
          </p:nvPr>
        </p:nvPicPr>
        <p:blipFill>
          <a:blip r:embed="rId2" cstate="print">
            <a:extLst>
              <a:ext uri="{28A0092B-C50C-407E-A947-70E740481C1C}">
                <a14:useLocalDpi xmlns="" xmlns:a14="http://schemas.microsoft.com/office/drawing/2010/main" val="0"/>
              </a:ext>
            </a:extLst>
          </a:blip>
          <a:stretch>
            <a:fillRect/>
          </a:stretch>
        </p:blipFill>
        <p:spPr>
          <a:xfrm>
            <a:off x="760413" y="1028700"/>
            <a:ext cx="6400800" cy="4800600"/>
          </a:xfrm>
        </p:spPr>
      </p:pic>
      <p:sp>
        <p:nvSpPr>
          <p:cNvPr id="4" name="Text Placeholder 3"/>
          <p:cNvSpPr>
            <a:spLocks noGrp="1"/>
          </p:cNvSpPr>
          <p:nvPr>
            <p:ph type="body" sz="half" idx="2"/>
          </p:nvPr>
        </p:nvSpPr>
        <p:spPr/>
        <p:txBody>
          <a:bodyPr>
            <a:noAutofit/>
          </a:bodyPr>
          <a:lstStyle/>
          <a:p>
            <a:r>
              <a:rPr lang="en-US" sz="3200" dirty="0"/>
              <a:t>Late computation is</a:t>
            </a:r>
            <a:br>
              <a:rPr lang="en-US" sz="3200" dirty="0"/>
            </a:br>
            <a:r>
              <a:rPr lang="en-US" sz="3200" dirty="0"/>
              <a:t>useless, but not cause serious damage. </a:t>
            </a:r>
            <a:br>
              <a:rPr lang="en-US" sz="3200" dirty="0"/>
            </a:br>
            <a:endParaRPr lang="en-US" sz="3200" dirty="0"/>
          </a:p>
        </p:txBody>
      </p:sp>
    </p:spTree>
    <p:extLst>
      <p:ext uri="{BB962C8B-B14F-4D97-AF65-F5344CB8AC3E}">
        <p14:creationId xmlns="" xmlns:p14="http://schemas.microsoft.com/office/powerpoint/2010/main" val="38700430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Features of an RTOS</a:t>
            </a:r>
            <a:endParaRPr lang="en-US" dirty="0"/>
          </a:p>
        </p:txBody>
      </p:sp>
      <p:sp>
        <p:nvSpPr>
          <p:cNvPr id="3" name="Content Placeholder 2"/>
          <p:cNvSpPr>
            <a:spLocks noGrp="1"/>
          </p:cNvSpPr>
          <p:nvPr>
            <p:ph idx="1"/>
          </p:nvPr>
        </p:nvSpPr>
        <p:spPr/>
        <p:txBody>
          <a:bodyPr/>
          <a:lstStyle/>
          <a:p>
            <a:r>
              <a:rPr lang="en-US" dirty="0" smtClean="0"/>
              <a:t>Multitasking</a:t>
            </a:r>
          </a:p>
          <a:p>
            <a:r>
              <a:rPr lang="en-US" dirty="0" smtClean="0"/>
              <a:t>Constant Task Switch Time</a:t>
            </a:r>
          </a:p>
          <a:p>
            <a:r>
              <a:rPr lang="en-US" dirty="0" smtClean="0"/>
              <a:t>Low Interrupt Latency</a:t>
            </a:r>
          </a:p>
          <a:p>
            <a:r>
              <a:rPr lang="en-US" dirty="0" smtClean="0"/>
              <a:t>Task Priority</a:t>
            </a:r>
          </a:p>
          <a:p>
            <a:r>
              <a:rPr lang="en-US" dirty="0" smtClean="0"/>
              <a:t>Preemptive Scheduling</a:t>
            </a:r>
          </a:p>
          <a:p>
            <a:r>
              <a:rPr lang="en-US" dirty="0" smtClean="0"/>
              <a:t>Low memory Requirement</a:t>
            </a:r>
          </a:p>
          <a:p>
            <a:endParaRPr lang="en-US" dirty="0"/>
          </a:p>
        </p:txBody>
      </p:sp>
    </p:spTree>
    <p:extLst>
      <p:ext uri="{BB962C8B-B14F-4D97-AF65-F5344CB8AC3E}">
        <p14:creationId xmlns="" xmlns:p14="http://schemas.microsoft.com/office/powerpoint/2010/main" val="32354651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Characteristics of an RTOS</a:t>
            </a:r>
            <a:endParaRPr lang="en-US" dirty="0"/>
          </a:p>
        </p:txBody>
      </p:sp>
      <p:sp>
        <p:nvSpPr>
          <p:cNvPr id="3" name="Content Placeholder 2"/>
          <p:cNvSpPr>
            <a:spLocks noGrp="1"/>
          </p:cNvSpPr>
          <p:nvPr>
            <p:ph idx="1"/>
          </p:nvPr>
        </p:nvSpPr>
        <p:spPr/>
        <p:txBody>
          <a:bodyPr/>
          <a:lstStyle/>
          <a:p>
            <a:r>
              <a:rPr lang="en-US" dirty="0" smtClean="0"/>
              <a:t>Determinism		- Predictable output</a:t>
            </a:r>
          </a:p>
          <a:p>
            <a:r>
              <a:rPr lang="en-US" dirty="0" smtClean="0"/>
              <a:t>Responsiveness	- Quick response</a:t>
            </a:r>
          </a:p>
          <a:p>
            <a:r>
              <a:rPr lang="en-US" dirty="0" smtClean="0"/>
              <a:t>Reliability 		- Highly stable</a:t>
            </a:r>
          </a:p>
          <a:p>
            <a:r>
              <a:rPr lang="en-US" dirty="0" smtClean="0"/>
              <a:t>Fail Soft Operation	- prevents total system failure</a:t>
            </a:r>
          </a:p>
          <a:p>
            <a:r>
              <a:rPr lang="en-US" dirty="0" smtClean="0"/>
              <a:t>Scalability		- adaptable to changes</a:t>
            </a:r>
            <a:endParaRPr lang="en-US" dirty="0"/>
          </a:p>
        </p:txBody>
      </p:sp>
    </p:spTree>
    <p:extLst>
      <p:ext uri="{BB962C8B-B14F-4D97-AF65-F5344CB8AC3E}">
        <p14:creationId xmlns="" xmlns:p14="http://schemas.microsoft.com/office/powerpoint/2010/main" val="5558154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02587" y="685799"/>
            <a:ext cx="3122613" cy="762001"/>
          </a:xfrm>
        </p:spPr>
        <p:txBody>
          <a:bodyPr>
            <a:normAutofit/>
          </a:bodyPr>
          <a:lstStyle/>
          <a:p>
            <a:r>
              <a:rPr lang="en-US" dirty="0" smtClean="0"/>
              <a:t>Kernel</a:t>
            </a:r>
            <a:endParaRPr lang="en-US" dirty="0"/>
          </a:p>
        </p:txBody>
      </p:sp>
      <p:pic>
        <p:nvPicPr>
          <p:cNvPr id="5" name="Content Placeholder 4"/>
          <p:cNvPicPr>
            <a:picLocks noGrp="1" noChangeAspect="1"/>
          </p:cNvPicPr>
          <p:nvPr>
            <p:ph idx="1"/>
          </p:nvPr>
        </p:nvPicPr>
        <p:blipFill>
          <a:blip r:embed="rId2" cstate="print">
            <a:extLst>
              <a:ext uri="{28A0092B-C50C-407E-A947-70E740481C1C}">
                <a14:useLocalDpi xmlns="" xmlns:a14="http://schemas.microsoft.com/office/drawing/2010/main" val="0"/>
              </a:ext>
            </a:extLst>
          </a:blip>
          <a:stretch>
            <a:fillRect/>
          </a:stretch>
        </p:blipFill>
        <p:spPr>
          <a:xfrm>
            <a:off x="760413" y="903351"/>
            <a:ext cx="6400800" cy="5051298"/>
          </a:xfrm>
        </p:spPr>
      </p:pic>
      <p:sp>
        <p:nvSpPr>
          <p:cNvPr id="4" name="Text Placeholder 3"/>
          <p:cNvSpPr>
            <a:spLocks noGrp="1"/>
          </p:cNvSpPr>
          <p:nvPr>
            <p:ph type="body" sz="half" idx="2"/>
          </p:nvPr>
        </p:nvSpPr>
        <p:spPr>
          <a:xfrm>
            <a:off x="8001039" y="1447800"/>
            <a:ext cx="3124161" cy="4191000"/>
          </a:xfrm>
        </p:spPr>
        <p:txBody>
          <a:bodyPr>
            <a:normAutofit/>
          </a:bodyPr>
          <a:lstStyle/>
          <a:p>
            <a:pPr algn="just"/>
            <a:r>
              <a:rPr lang="en-US" sz="2000" dirty="0"/>
              <a:t>The </a:t>
            </a:r>
            <a:r>
              <a:rPr lang="en-US" sz="2000" b="1" dirty="0"/>
              <a:t>kernel</a:t>
            </a:r>
            <a:r>
              <a:rPr lang="en-US" sz="2000" dirty="0"/>
              <a:t> is a </a:t>
            </a:r>
            <a:r>
              <a:rPr lang="en-US" sz="2000" dirty="0" smtClean="0"/>
              <a:t>computer program</a:t>
            </a:r>
            <a:r>
              <a:rPr lang="en-US" sz="2000" dirty="0"/>
              <a:t> that is the core of a computer's </a:t>
            </a:r>
            <a:r>
              <a:rPr lang="en-US" sz="2000" dirty="0" smtClean="0"/>
              <a:t>operating system, </a:t>
            </a:r>
            <a:r>
              <a:rPr lang="en-US" sz="2000" dirty="0"/>
              <a:t>with complete control over everything in the system</a:t>
            </a:r>
            <a:r>
              <a:rPr lang="en-US" sz="2000" dirty="0" smtClean="0"/>
              <a:t>.</a:t>
            </a:r>
            <a:r>
              <a:rPr lang="en-US" sz="2000" dirty="0"/>
              <a:t> On most systems, it is one of the first programs loaded on </a:t>
            </a:r>
            <a:r>
              <a:rPr lang="en-US" sz="2000" dirty="0" smtClean="0"/>
              <a:t>start-up</a:t>
            </a:r>
            <a:r>
              <a:rPr lang="en-US" sz="2000" dirty="0"/>
              <a:t> (after the </a:t>
            </a:r>
            <a:r>
              <a:rPr lang="en-US" sz="2000" dirty="0" smtClean="0"/>
              <a:t>boot loader).</a:t>
            </a:r>
            <a:endParaRPr lang="en-US" sz="2000" dirty="0"/>
          </a:p>
        </p:txBody>
      </p:sp>
    </p:spTree>
    <p:extLst>
      <p:ext uri="{BB962C8B-B14F-4D97-AF65-F5344CB8AC3E}">
        <p14:creationId xmlns="" xmlns:p14="http://schemas.microsoft.com/office/powerpoint/2010/main" val="3731780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Types of </a:t>
            </a:r>
            <a:r>
              <a:rPr lang="en-US" dirty="0"/>
              <a:t>Kernel</a:t>
            </a:r>
          </a:p>
        </p:txBody>
      </p:sp>
      <p:sp>
        <p:nvSpPr>
          <p:cNvPr id="3" name="Content Placeholder 2"/>
          <p:cNvSpPr>
            <a:spLocks noGrp="1"/>
          </p:cNvSpPr>
          <p:nvPr>
            <p:ph idx="1"/>
          </p:nvPr>
        </p:nvSpPr>
        <p:spPr/>
        <p:txBody>
          <a:bodyPr>
            <a:normAutofit/>
          </a:bodyPr>
          <a:lstStyle/>
          <a:p>
            <a:r>
              <a:rPr lang="en-US" sz="3200" dirty="0"/>
              <a:t>N</a:t>
            </a:r>
            <a:r>
              <a:rPr lang="en-US" sz="3200" dirty="0" smtClean="0"/>
              <a:t>on-preemptive </a:t>
            </a:r>
          </a:p>
          <a:p>
            <a:r>
              <a:rPr lang="en-US" sz="3200" dirty="0" smtClean="0"/>
              <a:t>Preemptive</a:t>
            </a:r>
            <a:r>
              <a:rPr lang="en-US" sz="3200" dirty="0"/>
              <a:t/>
            </a:r>
            <a:br>
              <a:rPr lang="en-US" sz="3200" dirty="0"/>
            </a:br>
            <a:endParaRPr lang="en-US" sz="3200" dirty="0"/>
          </a:p>
        </p:txBody>
      </p:sp>
    </p:spTree>
    <p:extLst>
      <p:ext uri="{BB962C8B-B14F-4D97-AF65-F5344CB8AC3E}">
        <p14:creationId xmlns="" xmlns:p14="http://schemas.microsoft.com/office/powerpoint/2010/main" val="21500519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97952" y="813730"/>
            <a:ext cx="3127248" cy="1828800"/>
          </a:xfrm>
        </p:spPr>
        <p:txBody>
          <a:bodyPr/>
          <a:lstStyle/>
          <a:p>
            <a:r>
              <a:rPr lang="en-US" dirty="0" smtClean="0"/>
              <a:t>Preemptive Kernels</a:t>
            </a:r>
            <a:endParaRPr lang="en-US" dirty="0"/>
          </a:p>
        </p:txBody>
      </p:sp>
      <p:pic>
        <p:nvPicPr>
          <p:cNvPr id="5" name="Picture Placeholder 4"/>
          <p:cNvPicPr>
            <a:picLocks noGrp="1" noChangeAspect="1"/>
          </p:cNvPicPr>
          <p:nvPr>
            <p:ph type="pic" idx="1"/>
          </p:nvPr>
        </p:nvPicPr>
        <p:blipFill>
          <a:blip r:embed="rId2" cstate="print">
            <a:extLst>
              <a:ext uri="{28A0092B-C50C-407E-A947-70E740481C1C}">
                <a14:useLocalDpi xmlns="" xmlns:a14="http://schemas.microsoft.com/office/drawing/2010/main" val="0"/>
              </a:ext>
            </a:extLst>
          </a:blip>
          <a:srcRect l="4731" r="4731"/>
          <a:stretch>
            <a:fillRect/>
          </a:stretch>
        </p:blipFill>
        <p:spPr/>
      </p:pic>
      <p:sp>
        <p:nvSpPr>
          <p:cNvPr id="4" name="Text Placeholder 3"/>
          <p:cNvSpPr>
            <a:spLocks noGrp="1"/>
          </p:cNvSpPr>
          <p:nvPr>
            <p:ph type="body" sz="half" idx="2"/>
          </p:nvPr>
        </p:nvSpPr>
        <p:spPr>
          <a:xfrm>
            <a:off x="7997952" y="2804160"/>
            <a:ext cx="3127248" cy="3276600"/>
          </a:xfrm>
        </p:spPr>
        <p:txBody>
          <a:bodyPr>
            <a:noAutofit/>
          </a:bodyPr>
          <a:lstStyle/>
          <a:p>
            <a:pPr algn="just"/>
            <a:r>
              <a:rPr lang="en-US" sz="2000" dirty="0"/>
              <a:t>A preemptive kernel is used when system</a:t>
            </a:r>
            <a:br>
              <a:rPr lang="en-US" sz="2000" dirty="0"/>
            </a:br>
            <a:r>
              <a:rPr lang="en-US" sz="2000" dirty="0"/>
              <a:t>responsiveness is important. With a preemptive</a:t>
            </a:r>
            <a:br>
              <a:rPr lang="en-US" sz="2000" dirty="0"/>
            </a:br>
            <a:r>
              <a:rPr lang="en-US" sz="2000" dirty="0"/>
              <a:t>kernel, the kernel itself ensures that the </a:t>
            </a:r>
            <a:r>
              <a:rPr lang="en-US" sz="2000" dirty="0" smtClean="0"/>
              <a:t>highest priority </a:t>
            </a:r>
            <a:r>
              <a:rPr lang="en-US" sz="2000" dirty="0"/>
              <a:t>task ready to run is always given control of</a:t>
            </a:r>
            <a:br>
              <a:rPr lang="en-US" sz="2000" dirty="0"/>
            </a:br>
            <a:r>
              <a:rPr lang="en-US" sz="2000" dirty="0"/>
              <a:t>the CPU. </a:t>
            </a:r>
            <a:br>
              <a:rPr lang="en-US" sz="2000" dirty="0"/>
            </a:br>
            <a:endParaRPr lang="en-US" sz="2000" dirty="0"/>
          </a:p>
        </p:txBody>
      </p:sp>
    </p:spTree>
    <p:extLst>
      <p:ext uri="{BB962C8B-B14F-4D97-AF65-F5344CB8AC3E}">
        <p14:creationId xmlns="" xmlns:p14="http://schemas.microsoft.com/office/powerpoint/2010/main" val="231387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97952" y="777240"/>
            <a:ext cx="3127248" cy="1828800"/>
          </a:xfrm>
        </p:spPr>
        <p:txBody>
          <a:bodyPr/>
          <a:lstStyle/>
          <a:p>
            <a:pPr algn="just"/>
            <a:r>
              <a:rPr lang="en-US" dirty="0" smtClean="0"/>
              <a:t>Non-Preemptive Kernels</a:t>
            </a:r>
            <a:endParaRPr lang="en-US" dirty="0"/>
          </a:p>
        </p:txBody>
      </p:sp>
      <p:pic>
        <p:nvPicPr>
          <p:cNvPr id="5" name="Picture Placeholder 4"/>
          <p:cNvPicPr>
            <a:picLocks noGrp="1" noChangeAspect="1"/>
          </p:cNvPicPr>
          <p:nvPr>
            <p:ph type="pic" idx="1"/>
          </p:nvPr>
        </p:nvPicPr>
        <p:blipFill>
          <a:blip r:embed="rId2" cstate="print">
            <a:extLst>
              <a:ext uri="{28A0092B-C50C-407E-A947-70E740481C1C}">
                <a14:useLocalDpi xmlns="" xmlns:a14="http://schemas.microsoft.com/office/drawing/2010/main" val="0"/>
              </a:ext>
            </a:extLst>
          </a:blip>
          <a:srcRect l="4731" r="4731"/>
          <a:stretch>
            <a:fillRect/>
          </a:stretch>
        </p:blipFill>
        <p:spPr/>
      </p:pic>
      <p:sp>
        <p:nvSpPr>
          <p:cNvPr id="4" name="Text Placeholder 3"/>
          <p:cNvSpPr>
            <a:spLocks noGrp="1"/>
          </p:cNvSpPr>
          <p:nvPr>
            <p:ph type="body" sz="half" idx="2"/>
          </p:nvPr>
        </p:nvSpPr>
        <p:spPr>
          <a:xfrm>
            <a:off x="7997952" y="2743200"/>
            <a:ext cx="3127248" cy="3337560"/>
          </a:xfrm>
        </p:spPr>
        <p:txBody>
          <a:bodyPr>
            <a:noAutofit/>
          </a:bodyPr>
          <a:lstStyle/>
          <a:p>
            <a:pPr marL="285750" indent="-285750">
              <a:buFont typeface="Arial" panose="020B0604020202020204" pitchFamily="34" charset="0"/>
              <a:buChar char="•"/>
            </a:pPr>
            <a:r>
              <a:rPr lang="en-US" sz="2000" dirty="0"/>
              <a:t>Non-preemptive kernels require that each task</a:t>
            </a:r>
            <a:br>
              <a:rPr lang="en-US" sz="2000" dirty="0"/>
            </a:br>
            <a:r>
              <a:rPr lang="en-US" sz="2000" dirty="0"/>
              <a:t>does something to explicitly give up control of the</a:t>
            </a:r>
            <a:br>
              <a:rPr lang="en-US" sz="2000" dirty="0"/>
            </a:br>
            <a:r>
              <a:rPr lang="en-US" sz="2000" dirty="0"/>
              <a:t>CPU (i.e. microprocessor). </a:t>
            </a:r>
            <a:endParaRPr lang="en-US" sz="2000" dirty="0" smtClean="0"/>
          </a:p>
          <a:p>
            <a:pPr marL="285750" indent="-285750">
              <a:buFont typeface="Arial" panose="020B0604020202020204" pitchFamily="34" charset="0"/>
              <a:buChar char="•"/>
            </a:pPr>
            <a:r>
              <a:rPr lang="en-US" sz="2000" dirty="0" smtClean="0"/>
              <a:t>The </a:t>
            </a:r>
            <a:r>
              <a:rPr lang="en-US" sz="2000" dirty="0"/>
              <a:t>new higher-priority task will gain control of</a:t>
            </a:r>
            <a:br>
              <a:rPr lang="en-US" sz="2000" dirty="0"/>
            </a:br>
            <a:r>
              <a:rPr lang="en-US" sz="2000" dirty="0"/>
              <a:t>the CPU only when the current task gives up the</a:t>
            </a:r>
            <a:br>
              <a:rPr lang="en-US" sz="2000" dirty="0"/>
            </a:br>
            <a:r>
              <a:rPr lang="en-US" sz="2000" dirty="0"/>
              <a:t>CPU. </a:t>
            </a:r>
            <a:br>
              <a:rPr lang="en-US" sz="2000" dirty="0"/>
            </a:br>
            <a:endParaRPr lang="en-US" sz="2000" dirty="0"/>
          </a:p>
        </p:txBody>
      </p:sp>
    </p:spTree>
    <p:extLst>
      <p:ext uri="{BB962C8B-B14F-4D97-AF65-F5344CB8AC3E}">
        <p14:creationId xmlns="" xmlns:p14="http://schemas.microsoft.com/office/powerpoint/2010/main" val="16196795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0"/>
            <a:ext cx="9144000" cy="1143000"/>
          </a:xfrm>
        </p:spPr>
        <p:txBody>
          <a:bodyPr/>
          <a:lstStyle/>
          <a:p>
            <a:pPr algn="ctr"/>
            <a:r>
              <a:rPr lang="en-US" dirty="0" smtClean="0"/>
              <a:t>Kernel Functions</a:t>
            </a:r>
            <a:endParaRPr lang="en-US" dirty="0"/>
          </a:p>
        </p:txBody>
      </p:sp>
      <p:sp>
        <p:nvSpPr>
          <p:cNvPr id="3" name="Content Placeholder 2"/>
          <p:cNvSpPr>
            <a:spLocks noGrp="1"/>
          </p:cNvSpPr>
          <p:nvPr>
            <p:ph idx="1"/>
          </p:nvPr>
        </p:nvSpPr>
        <p:spPr>
          <a:xfrm>
            <a:off x="1524000" y="1143000"/>
            <a:ext cx="9144000" cy="4267200"/>
          </a:xfrm>
        </p:spPr>
        <p:txBody>
          <a:bodyPr>
            <a:normAutofit fontScale="92500" lnSpcReduction="10000"/>
          </a:bodyPr>
          <a:lstStyle/>
          <a:p>
            <a:r>
              <a:rPr lang="en-US" dirty="0" smtClean="0"/>
              <a:t>Multi Tasking and Scheduling</a:t>
            </a:r>
          </a:p>
          <a:p>
            <a:pPr lvl="1">
              <a:buFont typeface="Wingdings" panose="05000000000000000000" pitchFamily="2" charset="2"/>
              <a:buChar char="q"/>
            </a:pPr>
            <a:r>
              <a:rPr lang="en-US" dirty="0" smtClean="0"/>
              <a:t>Preemptive</a:t>
            </a:r>
          </a:p>
          <a:p>
            <a:pPr lvl="1">
              <a:buFont typeface="Wingdings" panose="05000000000000000000" pitchFamily="2" charset="2"/>
              <a:buChar char="q"/>
            </a:pPr>
            <a:r>
              <a:rPr lang="en-US" dirty="0" smtClean="0"/>
              <a:t>Non-preemptive</a:t>
            </a:r>
          </a:p>
          <a:p>
            <a:r>
              <a:rPr lang="en-US" dirty="0" smtClean="0"/>
              <a:t>Inter Process Communication</a:t>
            </a:r>
          </a:p>
          <a:p>
            <a:pPr lvl="1">
              <a:buFont typeface="Wingdings" panose="05000000000000000000" pitchFamily="2" charset="2"/>
              <a:buChar char="q"/>
            </a:pPr>
            <a:r>
              <a:rPr lang="en-US" dirty="0" smtClean="0"/>
              <a:t>Direct Method</a:t>
            </a:r>
          </a:p>
          <a:p>
            <a:pPr lvl="1">
              <a:buFont typeface="Wingdings" panose="05000000000000000000" pitchFamily="2" charset="2"/>
              <a:buChar char="q"/>
            </a:pPr>
            <a:r>
              <a:rPr lang="en-US" dirty="0" smtClean="0"/>
              <a:t>Indirect Method</a:t>
            </a:r>
          </a:p>
          <a:p>
            <a:r>
              <a:rPr lang="en-US" dirty="0" smtClean="0"/>
              <a:t>Synchronization</a:t>
            </a:r>
          </a:p>
          <a:p>
            <a:pPr lvl="1">
              <a:buFont typeface="Wingdings" panose="05000000000000000000" pitchFamily="2" charset="2"/>
              <a:buChar char="q"/>
            </a:pPr>
            <a:r>
              <a:rPr lang="en-US" dirty="0" smtClean="0"/>
              <a:t>Semaphore</a:t>
            </a:r>
          </a:p>
          <a:p>
            <a:pPr lvl="1">
              <a:buFont typeface="Wingdings" panose="05000000000000000000" pitchFamily="2" charset="2"/>
              <a:buChar char="q"/>
            </a:pPr>
            <a:r>
              <a:rPr lang="en-US" dirty="0" smtClean="0"/>
              <a:t>Mutex</a:t>
            </a:r>
          </a:p>
          <a:p>
            <a:r>
              <a:rPr lang="en-US" dirty="0" smtClean="0"/>
              <a:t>Interrupt Handling</a:t>
            </a:r>
          </a:p>
          <a:p>
            <a:r>
              <a:rPr lang="en-IN" dirty="0" smtClean="0"/>
              <a:t>Device Drivers</a:t>
            </a:r>
            <a:endParaRPr lang="en-US" dirty="0" smtClean="0"/>
          </a:p>
          <a:p>
            <a:pPr marL="0" indent="0">
              <a:buNone/>
            </a:pPr>
            <a:endParaRPr lang="en-US" dirty="0"/>
          </a:p>
        </p:txBody>
      </p:sp>
    </p:spTree>
    <p:extLst>
      <p:ext uri="{BB962C8B-B14F-4D97-AF65-F5344CB8AC3E}">
        <p14:creationId xmlns="" xmlns:p14="http://schemas.microsoft.com/office/powerpoint/2010/main" val="30018731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Task</a:t>
            </a:r>
            <a:endParaRPr lang="en-US" dirty="0"/>
          </a:p>
        </p:txBody>
      </p:sp>
      <p:sp>
        <p:nvSpPr>
          <p:cNvPr id="3" name="Content Placeholder 2"/>
          <p:cNvSpPr>
            <a:spLocks noGrp="1"/>
          </p:cNvSpPr>
          <p:nvPr>
            <p:ph idx="1"/>
          </p:nvPr>
        </p:nvSpPr>
        <p:spPr/>
        <p:txBody>
          <a:bodyPr>
            <a:normAutofit/>
          </a:bodyPr>
          <a:lstStyle/>
          <a:p>
            <a:pPr algn="just"/>
            <a:r>
              <a:rPr lang="en-US" sz="3000" dirty="0"/>
              <a:t>A </a:t>
            </a:r>
            <a:r>
              <a:rPr lang="en-US" sz="3000" b="1" dirty="0"/>
              <a:t>task </a:t>
            </a:r>
            <a:r>
              <a:rPr lang="en-US" sz="3000" dirty="0"/>
              <a:t>is a simple program which thinks it has the</a:t>
            </a:r>
            <a:br>
              <a:rPr lang="en-US" sz="3000" dirty="0"/>
            </a:br>
            <a:r>
              <a:rPr lang="en-US" sz="3000" dirty="0"/>
              <a:t>microprocessor all to itself. Each task is given a</a:t>
            </a:r>
            <a:br>
              <a:rPr lang="en-US" sz="3000" dirty="0"/>
            </a:br>
            <a:r>
              <a:rPr lang="en-US" sz="3000" dirty="0"/>
              <a:t>priority based on its importance</a:t>
            </a:r>
            <a:r>
              <a:rPr lang="en-US" sz="3000" dirty="0" smtClean="0"/>
              <a:t>.</a:t>
            </a:r>
          </a:p>
          <a:p>
            <a:pPr algn="just"/>
            <a:r>
              <a:rPr lang="en-US" sz="3000" dirty="0"/>
              <a:t>The design process for a real-time system consists</a:t>
            </a:r>
            <a:br>
              <a:rPr lang="en-US" sz="3000" dirty="0"/>
            </a:br>
            <a:r>
              <a:rPr lang="en-US" sz="3000" dirty="0"/>
              <a:t>of splitting the work to be done into tasks which are</a:t>
            </a:r>
            <a:br>
              <a:rPr lang="en-US" sz="3000" dirty="0"/>
            </a:br>
            <a:r>
              <a:rPr lang="en-US" sz="3000" dirty="0"/>
              <a:t>responsible for a portion of the problem </a:t>
            </a:r>
            <a:br>
              <a:rPr lang="en-US" sz="3000" dirty="0"/>
            </a:br>
            <a:r>
              <a:rPr lang="en-US" sz="3200" dirty="0"/>
              <a:t> </a:t>
            </a:r>
            <a:br>
              <a:rPr lang="en-US" sz="3200" dirty="0"/>
            </a:br>
            <a:endParaRPr lang="en-US" sz="3200" dirty="0"/>
          </a:p>
        </p:txBody>
      </p:sp>
    </p:spTree>
    <p:extLst>
      <p:ext uri="{BB962C8B-B14F-4D97-AF65-F5344CB8AC3E}">
        <p14:creationId xmlns="" xmlns:p14="http://schemas.microsoft.com/office/powerpoint/2010/main" val="32561062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Task States</a:t>
            </a:r>
            <a:endParaRPr lang="en-US" dirty="0"/>
          </a:p>
        </p:txBody>
      </p:sp>
      <p:pic>
        <p:nvPicPr>
          <p:cNvPr id="4" name="Content Placeholder 3"/>
          <p:cNvPicPr>
            <a:picLocks noGrp="1" noChangeAspect="1"/>
          </p:cNvPicPr>
          <p:nvPr>
            <p:ph idx="1"/>
          </p:nvPr>
        </p:nvPicPr>
        <p:blipFill>
          <a:blip r:embed="rId2" cstate="print">
            <a:extLst>
              <a:ext uri="{28A0092B-C50C-407E-A947-70E740481C1C}">
                <a14:useLocalDpi xmlns="" xmlns:a14="http://schemas.microsoft.com/office/drawing/2010/main" val="0"/>
              </a:ext>
            </a:extLst>
          </a:blip>
          <a:stretch>
            <a:fillRect/>
          </a:stretch>
        </p:blipFill>
        <p:spPr>
          <a:xfrm>
            <a:off x="1066801" y="1828800"/>
            <a:ext cx="5486400" cy="4267200"/>
          </a:xfrm>
        </p:spPr>
      </p:pic>
      <p:sp>
        <p:nvSpPr>
          <p:cNvPr id="5" name="TextBox 4"/>
          <p:cNvSpPr txBox="1"/>
          <p:nvPr/>
        </p:nvSpPr>
        <p:spPr>
          <a:xfrm>
            <a:off x="7848600" y="1752600"/>
            <a:ext cx="3886200" cy="3108543"/>
          </a:xfrm>
          <a:prstGeom prst="rect">
            <a:avLst/>
          </a:prstGeom>
          <a:noFill/>
        </p:spPr>
        <p:txBody>
          <a:bodyPr wrap="square" rtlCol="0">
            <a:spAutoFit/>
          </a:bodyPr>
          <a:lstStyle/>
          <a:p>
            <a:r>
              <a:rPr lang="en-IN" sz="2800" dirty="0" smtClean="0"/>
              <a:t>Ready:</a:t>
            </a:r>
          </a:p>
          <a:p>
            <a:endParaRPr lang="en-IN" sz="2800" dirty="0" smtClean="0"/>
          </a:p>
          <a:p>
            <a:r>
              <a:rPr lang="en-IN" sz="2800" dirty="0" smtClean="0"/>
              <a:t>Blocked:</a:t>
            </a:r>
          </a:p>
          <a:p>
            <a:endParaRPr lang="en-IN" sz="2800" dirty="0" smtClean="0"/>
          </a:p>
          <a:p>
            <a:r>
              <a:rPr lang="en-IN" sz="2800" dirty="0" smtClean="0"/>
              <a:t>Running:</a:t>
            </a:r>
          </a:p>
          <a:p>
            <a:endParaRPr lang="en-IN" sz="2800" dirty="0" smtClean="0"/>
          </a:p>
          <a:p>
            <a:r>
              <a:rPr lang="en-IN" sz="2800" dirty="0" err="1" smtClean="0"/>
              <a:t>Suspeded</a:t>
            </a:r>
            <a:r>
              <a:rPr lang="en-IN" sz="2800" dirty="0" smtClean="0"/>
              <a:t>:</a:t>
            </a:r>
            <a:endParaRPr lang="en-US" sz="2800" dirty="0"/>
          </a:p>
        </p:txBody>
      </p:sp>
    </p:spTree>
    <p:extLst>
      <p:ext uri="{BB962C8B-B14F-4D97-AF65-F5344CB8AC3E}">
        <p14:creationId xmlns="" xmlns:p14="http://schemas.microsoft.com/office/powerpoint/2010/main" val="17025898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Thread</a:t>
            </a:r>
            <a:endParaRPr lang="en-US" dirty="0"/>
          </a:p>
        </p:txBody>
      </p:sp>
      <p:sp>
        <p:nvSpPr>
          <p:cNvPr id="3" name="Content Placeholder 2"/>
          <p:cNvSpPr>
            <a:spLocks noGrp="1"/>
          </p:cNvSpPr>
          <p:nvPr>
            <p:ph idx="1"/>
          </p:nvPr>
        </p:nvSpPr>
        <p:spPr/>
        <p:txBody>
          <a:bodyPr>
            <a:normAutofit/>
          </a:bodyPr>
          <a:lstStyle/>
          <a:p>
            <a:pPr marL="0" indent="0" algn="just">
              <a:buNone/>
            </a:pPr>
            <a:r>
              <a:rPr lang="en-US" sz="3000" dirty="0"/>
              <a:t>A </a:t>
            </a:r>
            <a:r>
              <a:rPr lang="en-US" sz="3000" b="1" dirty="0"/>
              <a:t>thread</a:t>
            </a:r>
            <a:r>
              <a:rPr lang="en-US" sz="3000" dirty="0"/>
              <a:t> of execution is the smallest sequence of programmed instructions that can be managed independently by a </a:t>
            </a:r>
            <a:r>
              <a:rPr lang="en-US" sz="3000" dirty="0" smtClean="0"/>
              <a:t>scheduler, </a:t>
            </a:r>
            <a:r>
              <a:rPr lang="en-US" sz="3000" dirty="0"/>
              <a:t>which is typically a part of the </a:t>
            </a:r>
            <a:r>
              <a:rPr lang="en-US" sz="3000" dirty="0" smtClean="0"/>
              <a:t>operating system.</a:t>
            </a:r>
            <a:r>
              <a:rPr lang="en-GB" sz="3000" dirty="0" smtClean="0"/>
              <a:t> Most modern systems deal with thread rather than process .</a:t>
            </a:r>
            <a:endParaRPr lang="en-US" sz="3000" dirty="0" smtClean="0"/>
          </a:p>
          <a:p>
            <a:pPr marL="0" indent="0" algn="just">
              <a:buNone/>
            </a:pPr>
            <a:endParaRPr lang="en-US" sz="3000" dirty="0" smtClean="0"/>
          </a:p>
        </p:txBody>
      </p:sp>
      <p:sp>
        <p:nvSpPr>
          <p:cNvPr id="4" name="Oval 3"/>
          <p:cNvSpPr/>
          <p:nvPr/>
        </p:nvSpPr>
        <p:spPr>
          <a:xfrm>
            <a:off x="2133600" y="4114800"/>
            <a:ext cx="12954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Thread</a:t>
            </a:r>
            <a:endParaRPr lang="en-US" dirty="0"/>
          </a:p>
        </p:txBody>
      </p:sp>
      <p:sp>
        <p:nvSpPr>
          <p:cNvPr id="6" name="Oval 5"/>
          <p:cNvSpPr/>
          <p:nvPr/>
        </p:nvSpPr>
        <p:spPr>
          <a:xfrm>
            <a:off x="2133600" y="4724400"/>
            <a:ext cx="12954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Thread</a:t>
            </a:r>
            <a:endParaRPr lang="en-US" dirty="0"/>
          </a:p>
        </p:txBody>
      </p:sp>
      <p:sp>
        <p:nvSpPr>
          <p:cNvPr id="7" name="Oval 6"/>
          <p:cNvSpPr/>
          <p:nvPr/>
        </p:nvSpPr>
        <p:spPr>
          <a:xfrm>
            <a:off x="2133600" y="5334000"/>
            <a:ext cx="1219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Thread</a:t>
            </a:r>
            <a:endParaRPr lang="en-US" dirty="0"/>
          </a:p>
        </p:txBody>
      </p:sp>
      <p:sp>
        <p:nvSpPr>
          <p:cNvPr id="8" name="Right Brace 7"/>
          <p:cNvSpPr/>
          <p:nvPr/>
        </p:nvSpPr>
        <p:spPr>
          <a:xfrm>
            <a:off x="3657600" y="4191000"/>
            <a:ext cx="457200" cy="16002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Oval 8"/>
          <p:cNvSpPr/>
          <p:nvPr/>
        </p:nvSpPr>
        <p:spPr>
          <a:xfrm>
            <a:off x="4191000" y="4267200"/>
            <a:ext cx="15240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Process</a:t>
            </a:r>
            <a:endParaRPr lang="en-US" dirty="0"/>
          </a:p>
        </p:txBody>
      </p:sp>
      <p:sp>
        <p:nvSpPr>
          <p:cNvPr id="10" name="Oval 9"/>
          <p:cNvSpPr/>
          <p:nvPr/>
        </p:nvSpPr>
        <p:spPr>
          <a:xfrm>
            <a:off x="4191000" y="5105400"/>
            <a:ext cx="15240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Process</a:t>
            </a:r>
            <a:endParaRPr lang="en-US" dirty="0"/>
          </a:p>
        </p:txBody>
      </p:sp>
      <p:sp>
        <p:nvSpPr>
          <p:cNvPr id="11" name="Right Brace 10"/>
          <p:cNvSpPr/>
          <p:nvPr/>
        </p:nvSpPr>
        <p:spPr>
          <a:xfrm>
            <a:off x="5943600" y="4419600"/>
            <a:ext cx="304800" cy="12954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Oval 11"/>
          <p:cNvSpPr/>
          <p:nvPr/>
        </p:nvSpPr>
        <p:spPr>
          <a:xfrm>
            <a:off x="6324600" y="4724400"/>
            <a:ext cx="19812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Program</a:t>
            </a:r>
            <a:endParaRPr lang="en-US" dirty="0"/>
          </a:p>
        </p:txBody>
      </p:sp>
    </p:spTree>
    <p:extLst>
      <p:ext uri="{BB962C8B-B14F-4D97-AF65-F5344CB8AC3E}">
        <p14:creationId xmlns="" xmlns:p14="http://schemas.microsoft.com/office/powerpoint/2010/main" val="25354304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Classification Of Threads</a:t>
            </a:r>
            <a:endParaRPr lang="en-US" dirty="0"/>
          </a:p>
        </p:txBody>
      </p:sp>
      <p:sp>
        <p:nvSpPr>
          <p:cNvPr id="3" name="Content Placeholder 2"/>
          <p:cNvSpPr>
            <a:spLocks noGrp="1"/>
          </p:cNvSpPr>
          <p:nvPr>
            <p:ph idx="1"/>
          </p:nvPr>
        </p:nvSpPr>
        <p:spPr/>
        <p:txBody>
          <a:bodyPr>
            <a:normAutofit/>
          </a:bodyPr>
          <a:lstStyle/>
          <a:p>
            <a:r>
              <a:rPr lang="en-US" sz="3000" dirty="0" smtClean="0"/>
              <a:t>Time Threads (</a:t>
            </a:r>
            <a:r>
              <a:rPr lang="en-GB" sz="3000" dirty="0" err="1" smtClean="0"/>
              <a:t>eg</a:t>
            </a:r>
            <a:r>
              <a:rPr lang="en-GB" sz="3000" dirty="0" smtClean="0"/>
              <a:t>: only on system failure)</a:t>
            </a:r>
            <a:endParaRPr lang="en-US" sz="3000" dirty="0" smtClean="0"/>
          </a:p>
          <a:p>
            <a:r>
              <a:rPr lang="en-US" sz="3000" dirty="0" smtClean="0"/>
              <a:t>Event Triggered Thread(</a:t>
            </a:r>
            <a:r>
              <a:rPr lang="en-GB" sz="3000" dirty="0" err="1" smtClean="0"/>
              <a:t>eg</a:t>
            </a:r>
            <a:r>
              <a:rPr lang="en-GB" sz="3000" dirty="0" smtClean="0"/>
              <a:t>: runs when flag is  high/low)</a:t>
            </a:r>
            <a:endParaRPr lang="en-US" sz="3000" dirty="0" smtClean="0"/>
          </a:p>
          <a:p>
            <a:r>
              <a:rPr lang="en-US" sz="3000" dirty="0" smtClean="0"/>
              <a:t>Main Threads</a:t>
            </a:r>
          </a:p>
          <a:p>
            <a:endParaRPr lang="en-US" sz="3000" dirty="0"/>
          </a:p>
        </p:txBody>
      </p:sp>
    </p:spTree>
    <p:extLst>
      <p:ext uri="{BB962C8B-B14F-4D97-AF65-F5344CB8AC3E}">
        <p14:creationId xmlns="" xmlns:p14="http://schemas.microsoft.com/office/powerpoint/2010/main" val="21019895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Thread Control Block</a:t>
            </a:r>
            <a:endParaRPr lang="en-US" dirty="0"/>
          </a:p>
        </p:txBody>
      </p:sp>
      <p:sp>
        <p:nvSpPr>
          <p:cNvPr id="3" name="Content Placeholder 2"/>
          <p:cNvSpPr>
            <a:spLocks noGrp="1"/>
          </p:cNvSpPr>
          <p:nvPr>
            <p:ph idx="1"/>
          </p:nvPr>
        </p:nvSpPr>
        <p:spPr>
          <a:xfrm>
            <a:off x="1524000" y="1828800"/>
            <a:ext cx="9144000" cy="4572000"/>
          </a:xfrm>
        </p:spPr>
        <p:txBody>
          <a:bodyPr>
            <a:normAutofit fontScale="85000" lnSpcReduction="20000"/>
          </a:bodyPr>
          <a:lstStyle/>
          <a:p>
            <a:pPr marL="0" indent="0" algn="just">
              <a:buNone/>
            </a:pPr>
            <a:r>
              <a:rPr lang="en-US" sz="2600" b="1" dirty="0"/>
              <a:t>Thread Control Block</a:t>
            </a:r>
            <a:r>
              <a:rPr lang="en-US" sz="2600" dirty="0"/>
              <a:t> (</a:t>
            </a:r>
            <a:r>
              <a:rPr lang="en-US" sz="2600" b="1" dirty="0"/>
              <a:t>TCB</a:t>
            </a:r>
            <a:r>
              <a:rPr lang="en-US" sz="2600" dirty="0"/>
              <a:t>) is a </a:t>
            </a:r>
            <a:r>
              <a:rPr lang="en-US" sz="2600" dirty="0" smtClean="0"/>
              <a:t>data structure</a:t>
            </a:r>
            <a:r>
              <a:rPr lang="en-US" sz="2600" dirty="0"/>
              <a:t> in the </a:t>
            </a:r>
            <a:r>
              <a:rPr lang="en-US" sz="2600" dirty="0" smtClean="0"/>
              <a:t>operating system kernel which </a:t>
            </a:r>
            <a:r>
              <a:rPr lang="en-US" sz="2600" dirty="0"/>
              <a:t>contains </a:t>
            </a:r>
            <a:r>
              <a:rPr lang="en-US" sz="2600" dirty="0" smtClean="0"/>
              <a:t>threads information </a:t>
            </a:r>
            <a:r>
              <a:rPr lang="en-US" sz="2600" dirty="0"/>
              <a:t>needed to manage it. The TCB is "the manifestation of a thread in an operating </a:t>
            </a:r>
            <a:r>
              <a:rPr lang="en-US" sz="2600" dirty="0" smtClean="0"/>
              <a:t>system.</a:t>
            </a:r>
          </a:p>
          <a:p>
            <a:pPr marL="0" indent="0">
              <a:buNone/>
            </a:pPr>
            <a:r>
              <a:rPr lang="en-US" dirty="0" smtClean="0"/>
              <a:t>TCB  must Contain:</a:t>
            </a:r>
          </a:p>
          <a:p>
            <a:r>
              <a:rPr lang="en-US" dirty="0" smtClean="0"/>
              <a:t>Pointer to Stack</a:t>
            </a:r>
          </a:p>
          <a:p>
            <a:r>
              <a:rPr lang="en-US" dirty="0" smtClean="0"/>
              <a:t>Pointer to the next thread</a:t>
            </a:r>
          </a:p>
          <a:p>
            <a:pPr marL="0" indent="0">
              <a:buNone/>
            </a:pPr>
            <a:r>
              <a:rPr lang="en-US" dirty="0" smtClean="0"/>
              <a:t>Additionally</a:t>
            </a:r>
          </a:p>
          <a:p>
            <a:r>
              <a:rPr lang="en-US" dirty="0" smtClean="0"/>
              <a:t>Variable to hold thread status</a:t>
            </a:r>
          </a:p>
          <a:p>
            <a:r>
              <a:rPr lang="en-US" dirty="0" smtClean="0"/>
              <a:t>Variable to hold thread ID</a:t>
            </a:r>
          </a:p>
          <a:p>
            <a:r>
              <a:rPr lang="en-US" dirty="0" smtClean="0"/>
              <a:t>Variable to hold thread period</a:t>
            </a:r>
          </a:p>
          <a:p>
            <a:r>
              <a:rPr lang="en-US" dirty="0" smtClean="0"/>
              <a:t>Variable to hold thread burst time</a:t>
            </a:r>
          </a:p>
          <a:p>
            <a:r>
              <a:rPr lang="en-US" dirty="0" smtClean="0"/>
              <a:t>Variable to hold thread priority</a:t>
            </a:r>
            <a:endParaRPr lang="en-US" dirty="0"/>
          </a:p>
        </p:txBody>
      </p:sp>
    </p:spTree>
    <p:extLst>
      <p:ext uri="{BB962C8B-B14F-4D97-AF65-F5344CB8AC3E}">
        <p14:creationId xmlns="" xmlns:p14="http://schemas.microsoft.com/office/powerpoint/2010/main" val="13994253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dirty="0" smtClean="0"/>
              <a:t>Sample TCB</a:t>
            </a:r>
            <a:endParaRPr lang="en-US" dirty="0"/>
          </a:p>
        </p:txBody>
      </p:sp>
      <p:sp>
        <p:nvSpPr>
          <p:cNvPr id="4" name="Content Placeholder 3"/>
          <p:cNvSpPr>
            <a:spLocks noGrp="1"/>
          </p:cNvSpPr>
          <p:nvPr>
            <p:ph idx="1"/>
          </p:nvPr>
        </p:nvSpPr>
        <p:spPr/>
        <p:txBody>
          <a:bodyPr/>
          <a:lstStyle/>
          <a:p>
            <a:pPr marL="0" indent="0">
              <a:buNone/>
            </a:pPr>
            <a:r>
              <a:rPr lang="en-US" dirty="0" err="1" smtClean="0"/>
              <a:t>Struct</a:t>
            </a:r>
            <a:r>
              <a:rPr lang="en-US" dirty="0" smtClean="0"/>
              <a:t> </a:t>
            </a:r>
            <a:r>
              <a:rPr lang="en-US" dirty="0" err="1" smtClean="0"/>
              <a:t>tcb</a:t>
            </a:r>
            <a:endParaRPr lang="en-US" dirty="0" smtClean="0"/>
          </a:p>
          <a:p>
            <a:pPr marL="0" indent="0">
              <a:buNone/>
            </a:pPr>
            <a:r>
              <a:rPr lang="en-US" dirty="0" smtClean="0"/>
              <a:t>{</a:t>
            </a:r>
          </a:p>
          <a:p>
            <a:pPr marL="0" indent="0">
              <a:buNone/>
            </a:pPr>
            <a:r>
              <a:rPr lang="en-US" dirty="0"/>
              <a:t>	</a:t>
            </a:r>
            <a:r>
              <a:rPr lang="en-US" dirty="0" smtClean="0"/>
              <a:t>int32_t *</a:t>
            </a:r>
            <a:r>
              <a:rPr lang="en-US" dirty="0" err="1" smtClean="0"/>
              <a:t>stackPt</a:t>
            </a:r>
            <a:r>
              <a:rPr lang="en-US" dirty="0" smtClean="0"/>
              <a:t>;</a:t>
            </a:r>
          </a:p>
          <a:p>
            <a:pPr marL="0" indent="0">
              <a:buNone/>
            </a:pPr>
            <a:r>
              <a:rPr lang="en-US" dirty="0"/>
              <a:t>	</a:t>
            </a:r>
            <a:r>
              <a:rPr lang="en-US" dirty="0" err="1" smtClean="0"/>
              <a:t>struct</a:t>
            </a:r>
            <a:r>
              <a:rPr lang="en-US" dirty="0" smtClean="0"/>
              <a:t> </a:t>
            </a:r>
            <a:r>
              <a:rPr lang="en-US" dirty="0" err="1" smtClean="0"/>
              <a:t>tcb</a:t>
            </a:r>
            <a:r>
              <a:rPr lang="en-US" dirty="0" smtClean="0"/>
              <a:t> *</a:t>
            </a:r>
            <a:r>
              <a:rPr lang="en-US" dirty="0" err="1" smtClean="0"/>
              <a:t>nextPt</a:t>
            </a:r>
            <a:r>
              <a:rPr lang="en-US" dirty="0" smtClean="0"/>
              <a:t>;</a:t>
            </a:r>
          </a:p>
          <a:p>
            <a:pPr marL="0" indent="0">
              <a:buNone/>
            </a:pPr>
            <a:r>
              <a:rPr lang="en-US" dirty="0"/>
              <a:t>	</a:t>
            </a:r>
            <a:r>
              <a:rPr lang="en-US" dirty="0" smtClean="0"/>
              <a:t>uint32_t status;</a:t>
            </a:r>
          </a:p>
          <a:p>
            <a:pPr marL="0" indent="0">
              <a:buNone/>
            </a:pPr>
            <a:r>
              <a:rPr lang="en-US" dirty="0" smtClean="0"/>
              <a:t>	uint32_t period;</a:t>
            </a:r>
          </a:p>
          <a:p>
            <a:pPr marL="0" indent="0">
              <a:buNone/>
            </a:pPr>
            <a:r>
              <a:rPr lang="en-US" dirty="0"/>
              <a:t>	</a:t>
            </a:r>
            <a:r>
              <a:rPr lang="en-US" dirty="0" smtClean="0"/>
              <a:t>uint32_t </a:t>
            </a:r>
            <a:r>
              <a:rPr lang="en-US" dirty="0" err="1" smtClean="0"/>
              <a:t>burstTime</a:t>
            </a:r>
            <a:r>
              <a:rPr lang="en-US" dirty="0" smtClean="0"/>
              <a:t>;</a:t>
            </a:r>
          </a:p>
          <a:p>
            <a:pPr marL="0" indent="0">
              <a:buNone/>
            </a:pPr>
            <a:r>
              <a:rPr lang="en-US" dirty="0"/>
              <a:t>}</a:t>
            </a:r>
          </a:p>
        </p:txBody>
      </p:sp>
    </p:spTree>
    <p:extLst>
      <p:ext uri="{BB962C8B-B14F-4D97-AF65-F5344CB8AC3E}">
        <p14:creationId xmlns="" xmlns:p14="http://schemas.microsoft.com/office/powerpoint/2010/main" val="179636083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14991" y="381000"/>
            <a:ext cx="3122613" cy="1828800"/>
          </a:xfrm>
        </p:spPr>
        <p:txBody>
          <a:bodyPr/>
          <a:lstStyle/>
          <a:p>
            <a:pPr algn="ctr"/>
            <a:r>
              <a:rPr lang="en-US" dirty="0" smtClean="0"/>
              <a:t>Context Switching</a:t>
            </a:r>
            <a:endParaRPr lang="en-US" dirty="0"/>
          </a:p>
        </p:txBody>
      </p:sp>
      <p:pic>
        <p:nvPicPr>
          <p:cNvPr id="5" name="Content Placeholder 4"/>
          <p:cNvPicPr>
            <a:picLocks noGrp="1" noChangeAspect="1"/>
          </p:cNvPicPr>
          <p:nvPr>
            <p:ph idx="1"/>
          </p:nvPr>
        </p:nvPicPr>
        <p:blipFill>
          <a:blip r:embed="rId2" cstate="print">
            <a:extLst>
              <a:ext uri="{28A0092B-C50C-407E-A947-70E740481C1C}">
                <a14:useLocalDpi xmlns="" xmlns:a14="http://schemas.microsoft.com/office/drawing/2010/main" val="0"/>
              </a:ext>
            </a:extLst>
          </a:blip>
          <a:stretch>
            <a:fillRect/>
          </a:stretch>
        </p:blipFill>
        <p:spPr>
          <a:xfrm>
            <a:off x="760413" y="1628775"/>
            <a:ext cx="6400800" cy="36004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 Placeholder 3"/>
          <p:cNvSpPr>
            <a:spLocks noGrp="1"/>
          </p:cNvSpPr>
          <p:nvPr>
            <p:ph type="body" sz="half" idx="2"/>
          </p:nvPr>
        </p:nvSpPr>
        <p:spPr>
          <a:xfrm>
            <a:off x="8014991" y="2648755"/>
            <a:ext cx="3124161" cy="1828800"/>
          </a:xfrm>
        </p:spPr>
        <p:txBody>
          <a:bodyPr>
            <a:noAutofit/>
          </a:bodyPr>
          <a:lstStyle/>
          <a:p>
            <a:pPr algn="just"/>
            <a:r>
              <a:rPr lang="en-US" sz="2500" dirty="0"/>
              <a:t>A </a:t>
            </a:r>
            <a:r>
              <a:rPr lang="en-US" sz="2500" b="1" dirty="0"/>
              <a:t>context switch</a:t>
            </a:r>
            <a:r>
              <a:rPr lang="en-US" sz="2500" dirty="0"/>
              <a:t> is the process of storing the state of a process or of a thread, so that it can be restored and execution resumed from the same point later.</a:t>
            </a:r>
          </a:p>
          <a:p>
            <a:pPr algn="just"/>
            <a:endParaRPr lang="en-US" sz="2500" dirty="0"/>
          </a:p>
        </p:txBody>
      </p:sp>
    </p:spTree>
    <p:extLst>
      <p:ext uri="{BB962C8B-B14F-4D97-AF65-F5344CB8AC3E}">
        <p14:creationId xmlns="" xmlns:p14="http://schemas.microsoft.com/office/powerpoint/2010/main" val="297094966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Scheduler Algorithm</a:t>
            </a:r>
            <a:endParaRPr lang="en-US" dirty="0"/>
          </a:p>
        </p:txBody>
      </p:sp>
      <p:sp>
        <p:nvSpPr>
          <p:cNvPr id="3" name="Content Placeholder 2"/>
          <p:cNvSpPr>
            <a:spLocks noGrp="1"/>
          </p:cNvSpPr>
          <p:nvPr>
            <p:ph idx="1"/>
          </p:nvPr>
        </p:nvSpPr>
        <p:spPr/>
        <p:txBody>
          <a:bodyPr/>
          <a:lstStyle/>
          <a:p>
            <a:r>
              <a:rPr lang="en-US" dirty="0" smtClean="0"/>
              <a:t>Cooperative / Non-Preemptive Scheduling</a:t>
            </a:r>
          </a:p>
          <a:p>
            <a:pPr lvl="1"/>
            <a:r>
              <a:rPr lang="en-GB" dirty="0" smtClean="0"/>
              <a:t> Shortest job first scheduling algorithm</a:t>
            </a:r>
          </a:p>
          <a:p>
            <a:pPr lvl="1"/>
            <a:r>
              <a:rPr lang="en-GB" dirty="0" smtClean="0"/>
              <a:t>First come first served algorithm</a:t>
            </a:r>
            <a:endParaRPr lang="en-US" dirty="0" smtClean="0"/>
          </a:p>
          <a:p>
            <a:r>
              <a:rPr lang="en-US" dirty="0" smtClean="0"/>
              <a:t>Earliest Deadline First approach</a:t>
            </a:r>
          </a:p>
          <a:p>
            <a:r>
              <a:rPr lang="en-US" dirty="0" smtClean="0"/>
              <a:t>Preemptive Scheduling</a:t>
            </a:r>
          </a:p>
          <a:p>
            <a:pPr lvl="1"/>
            <a:r>
              <a:rPr lang="en-US" dirty="0" smtClean="0"/>
              <a:t>Round-robin scheduling </a:t>
            </a:r>
            <a:r>
              <a:rPr lang="en-GB" dirty="0" smtClean="0"/>
              <a:t>algorithm</a:t>
            </a:r>
            <a:endParaRPr lang="en-US" dirty="0" smtClean="0"/>
          </a:p>
          <a:p>
            <a:pPr lvl="1"/>
            <a:r>
              <a:rPr lang="en-GB" dirty="0" smtClean="0"/>
              <a:t>Shortest remaining time first scheduling algorithm</a:t>
            </a:r>
            <a:endParaRPr lang="en-US" dirty="0" smtClean="0"/>
          </a:p>
          <a:p>
            <a:pPr lvl="1"/>
            <a:r>
              <a:rPr lang="en-US" dirty="0" smtClean="0"/>
              <a:t>Static Time Scheduling </a:t>
            </a:r>
            <a:r>
              <a:rPr lang="en-GB" dirty="0" smtClean="0"/>
              <a:t>algorithm [fixed time </a:t>
            </a:r>
            <a:r>
              <a:rPr lang="en-GB" smtClean="0"/>
              <a:t>for varied overhead </a:t>
            </a:r>
            <a:r>
              <a:rPr lang="en-GB" dirty="0" smtClean="0"/>
              <a:t>task]</a:t>
            </a:r>
            <a:endParaRPr lang="en-US" dirty="0" smtClean="0"/>
          </a:p>
          <a:p>
            <a:pPr marL="365760" lvl="1" indent="0">
              <a:buNone/>
            </a:pPr>
            <a:endParaRPr lang="en-US" dirty="0" smtClean="0"/>
          </a:p>
          <a:p>
            <a:pPr lvl="1">
              <a:buFont typeface="Wingdings" panose="05000000000000000000" pitchFamily="2" charset="2"/>
              <a:buChar char="q"/>
            </a:pPr>
            <a:endParaRPr lang="en-US" dirty="0"/>
          </a:p>
        </p:txBody>
      </p:sp>
    </p:spTree>
    <p:extLst>
      <p:ext uri="{BB962C8B-B14F-4D97-AF65-F5344CB8AC3E}">
        <p14:creationId xmlns="" xmlns:p14="http://schemas.microsoft.com/office/powerpoint/2010/main" val="15630270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GB" dirty="0" smtClean="0"/>
              <a:t>GAANT CHART SHOWS THE TIME FOR EACH PROCESS WITH SCHEDULER.</a:t>
            </a:r>
          </a:p>
          <a:p>
            <a:r>
              <a:rPr lang="en-GB" dirty="0" smtClean="0"/>
              <a:t>-STARVATION PBLM, ANY PRIORITY BASED SCHEDULING ALGORITHM(SJFS,SRTF) WILL SUFFER(WHICH IS PROCESS WAITING INDEFINITLY)</a:t>
            </a:r>
          </a:p>
          <a:p>
            <a:r>
              <a:rPr lang="en-GB" dirty="0" smtClean="0"/>
              <a:t>-CONVOY EFFECT,SMALL PROCESS WAITING FOR THE LARGEST PROCESS TO COMPLETE.FCFS AND SJFS(IF LARGE TASK COMES FIRST</a:t>
            </a:r>
            <a:r>
              <a:rPr lang="en-GB" smtClean="0"/>
              <a:t>, </a:t>
            </a:r>
            <a:r>
              <a:rPr lang="en-GB" smtClean="0"/>
              <a:t>  </a:t>
            </a:r>
            <a:r>
              <a:rPr lang="en-GB" dirty="0" smtClean="0"/>
              <a:t>IT WILL CONTINUE EXECUTION) SUFFER FROM IT.</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Task synchronization</a:t>
            </a:r>
            <a:endParaRPr lang="en-US" dirty="0"/>
          </a:p>
        </p:txBody>
      </p:sp>
      <p:sp>
        <p:nvSpPr>
          <p:cNvPr id="3" name="Content Placeholder 2"/>
          <p:cNvSpPr>
            <a:spLocks noGrp="1"/>
          </p:cNvSpPr>
          <p:nvPr>
            <p:ph sz="half" idx="1"/>
          </p:nvPr>
        </p:nvSpPr>
        <p:spPr/>
        <p:txBody>
          <a:bodyPr>
            <a:normAutofit fontScale="85000" lnSpcReduction="20000"/>
          </a:bodyPr>
          <a:lstStyle/>
          <a:p>
            <a:pPr marL="0" indent="0">
              <a:buNone/>
            </a:pPr>
            <a:r>
              <a:rPr lang="en-US" dirty="0" smtClean="0"/>
              <a:t>Semaphore</a:t>
            </a:r>
          </a:p>
          <a:p>
            <a:r>
              <a:rPr lang="en-US" dirty="0" smtClean="0"/>
              <a:t>Semaphore is a process synchronization tool. Semaphore is typically an </a:t>
            </a:r>
            <a:r>
              <a:rPr lang="en-US" b="1" dirty="0" smtClean="0"/>
              <a:t>integer variable</a:t>
            </a:r>
            <a:r>
              <a:rPr lang="en-US" dirty="0" smtClean="0"/>
              <a:t> </a:t>
            </a:r>
            <a:r>
              <a:rPr lang="en-US" b="1" dirty="0" smtClean="0"/>
              <a:t>S</a:t>
            </a:r>
            <a:r>
              <a:rPr lang="en-US" dirty="0" smtClean="0"/>
              <a:t> that is initialized to the number of resources present in the system and the value of semaphore can be </a:t>
            </a:r>
            <a:r>
              <a:rPr lang="en-US" b="1" dirty="0" smtClean="0"/>
              <a:t>modified</a:t>
            </a:r>
            <a:r>
              <a:rPr lang="en-US" dirty="0" smtClean="0"/>
              <a:t> only by two functions </a:t>
            </a:r>
            <a:r>
              <a:rPr lang="en-US" b="1" dirty="0" smtClean="0"/>
              <a:t>wait()</a:t>
            </a:r>
            <a:r>
              <a:rPr lang="en-US" dirty="0" smtClean="0"/>
              <a:t> and </a:t>
            </a:r>
            <a:r>
              <a:rPr lang="en-US" b="1" dirty="0" smtClean="0"/>
              <a:t>signal()</a:t>
            </a:r>
            <a:r>
              <a:rPr lang="en-US" dirty="0" smtClean="0"/>
              <a:t> apart from initialization. </a:t>
            </a:r>
          </a:p>
          <a:p>
            <a:r>
              <a:rPr lang="en-US" dirty="0"/>
              <a:t>The wait() and signal() operation modify the value of the semaphore </a:t>
            </a:r>
            <a:r>
              <a:rPr lang="en-US" b="1" dirty="0"/>
              <a:t>indivisibly</a:t>
            </a:r>
            <a:r>
              <a:rPr lang="en-US" dirty="0"/>
              <a:t>. It means that when a process is modifying the value of the semaphore, no other process can simultaneously modify the value of the semaphore.  </a:t>
            </a:r>
            <a:r>
              <a:rPr lang="en-US" dirty="0" smtClean="0"/>
              <a:t>	</a:t>
            </a:r>
            <a:endParaRPr lang="en-US" dirty="0"/>
          </a:p>
        </p:txBody>
      </p:sp>
      <p:sp>
        <p:nvSpPr>
          <p:cNvPr id="4" name="Content Placeholder 3"/>
          <p:cNvSpPr>
            <a:spLocks noGrp="1"/>
          </p:cNvSpPr>
          <p:nvPr>
            <p:ph sz="half" idx="2"/>
          </p:nvPr>
        </p:nvSpPr>
        <p:spPr/>
        <p:txBody>
          <a:bodyPr>
            <a:normAutofit fontScale="85000" lnSpcReduction="20000"/>
          </a:bodyPr>
          <a:lstStyle/>
          <a:p>
            <a:pPr marL="0" indent="0">
              <a:buNone/>
            </a:pPr>
            <a:r>
              <a:rPr lang="en-US" dirty="0" smtClean="0"/>
              <a:t>Mutex</a:t>
            </a:r>
          </a:p>
          <a:p>
            <a:r>
              <a:rPr lang="en-US" b="1" dirty="0"/>
              <a:t>Mutual Exclusion Object</a:t>
            </a:r>
            <a:r>
              <a:rPr lang="en-US" dirty="0"/>
              <a:t> is shortly termed as Mutex. From the term mutual exclusion, we can understand that only one process at a time can access the given resource. The mutex object allows the multiple program threads to use the same resource but one at a time not simultaneously</a:t>
            </a:r>
            <a:r>
              <a:rPr lang="en-US" dirty="0" smtClean="0"/>
              <a:t>.</a:t>
            </a:r>
          </a:p>
          <a:p>
            <a:r>
              <a:rPr lang="en-US" dirty="0"/>
              <a:t>When a program starts it request the system to creates a mutex object for a given resource. The system creates the mutex object with a unique name or ID. Whenever the program thread wants to use the resource it occupies lock on mutex object, utilizes the resource and after use, it releases the lock on mutex object. Then the next process is allowed to acquire the lock on mutex object.</a:t>
            </a:r>
          </a:p>
        </p:txBody>
      </p:sp>
    </p:spTree>
    <p:extLst>
      <p:ext uri="{BB962C8B-B14F-4D97-AF65-F5344CB8AC3E}">
        <p14:creationId xmlns="" xmlns:p14="http://schemas.microsoft.com/office/powerpoint/2010/main" val="27630623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Types of Semaphore</a:t>
            </a:r>
            <a:endParaRPr lang="en-US" dirty="0"/>
          </a:p>
        </p:txBody>
      </p:sp>
      <p:sp>
        <p:nvSpPr>
          <p:cNvPr id="4" name="Text Placeholder 3"/>
          <p:cNvSpPr>
            <a:spLocks noGrp="1"/>
          </p:cNvSpPr>
          <p:nvPr>
            <p:ph type="body" idx="1"/>
          </p:nvPr>
        </p:nvSpPr>
        <p:spPr/>
        <p:txBody>
          <a:bodyPr/>
          <a:lstStyle/>
          <a:p>
            <a:r>
              <a:rPr lang="en-US" dirty="0"/>
              <a:t>Counting semaphores</a:t>
            </a:r>
          </a:p>
        </p:txBody>
      </p:sp>
      <p:sp>
        <p:nvSpPr>
          <p:cNvPr id="5" name="Content Placeholder 4"/>
          <p:cNvSpPr>
            <a:spLocks noGrp="1"/>
          </p:cNvSpPr>
          <p:nvPr>
            <p:ph sz="half" idx="2"/>
          </p:nvPr>
        </p:nvSpPr>
        <p:spPr/>
        <p:txBody>
          <a:bodyPr>
            <a:normAutofit fontScale="92500" lnSpcReduction="20000"/>
          </a:bodyPr>
          <a:lstStyle/>
          <a:p>
            <a:pPr algn="just"/>
            <a:r>
              <a:rPr lang="en-US" dirty="0" smtClean="0"/>
              <a:t>A semaphore </a:t>
            </a:r>
            <a:r>
              <a:rPr lang="en-US" dirty="0"/>
              <a:t>is a nonnegative integer count. Semaphores are typically used to coordinate access to resources, with the semaphore count initialized to the number of free resources. Threads then atomically increment the count when resources are added and atomically decrement the count when resources are removed.</a:t>
            </a:r>
          </a:p>
          <a:p>
            <a:pPr algn="just"/>
            <a:r>
              <a:rPr lang="en-US" dirty="0"/>
              <a:t>When the semaphore count becomes zero, indicating that no more resources are present, threads trying to decrement the semaphore block wait until the count becomes greater than zero.</a:t>
            </a:r>
          </a:p>
          <a:p>
            <a:pPr marL="0" indent="0" algn="just">
              <a:buNone/>
            </a:pPr>
            <a:endParaRPr lang="en-US" dirty="0"/>
          </a:p>
        </p:txBody>
      </p:sp>
      <p:sp>
        <p:nvSpPr>
          <p:cNvPr id="6" name="Text Placeholder 5"/>
          <p:cNvSpPr>
            <a:spLocks noGrp="1"/>
          </p:cNvSpPr>
          <p:nvPr>
            <p:ph type="body" sz="quarter" idx="3"/>
          </p:nvPr>
        </p:nvSpPr>
        <p:spPr/>
        <p:txBody>
          <a:bodyPr/>
          <a:lstStyle/>
          <a:p>
            <a:r>
              <a:rPr lang="en-US" dirty="0"/>
              <a:t>Binary semaphore</a:t>
            </a:r>
          </a:p>
        </p:txBody>
      </p:sp>
      <p:sp>
        <p:nvSpPr>
          <p:cNvPr id="7" name="Content Placeholder 6"/>
          <p:cNvSpPr>
            <a:spLocks noGrp="1"/>
          </p:cNvSpPr>
          <p:nvPr>
            <p:ph sz="quarter" idx="4"/>
          </p:nvPr>
        </p:nvSpPr>
        <p:spPr/>
        <p:txBody>
          <a:bodyPr>
            <a:normAutofit/>
          </a:bodyPr>
          <a:lstStyle/>
          <a:p>
            <a:pPr algn="just"/>
            <a:r>
              <a:rPr lang="en-US" sz="1900" dirty="0"/>
              <a:t>B</a:t>
            </a:r>
            <a:r>
              <a:rPr lang="en-US" sz="1900" dirty="0" smtClean="0"/>
              <a:t>inary </a:t>
            </a:r>
            <a:r>
              <a:rPr lang="en-US" sz="1900" dirty="0"/>
              <a:t>semaphore can have a value either 0 or 1. It means binary semaphore protect the access to a SINGLE shared resource, so the internal counter of the semaphore can only take the values 1 or 0</a:t>
            </a:r>
            <a:r>
              <a:rPr lang="en-US" sz="1900" dirty="0" smtClean="0"/>
              <a:t>.</a:t>
            </a:r>
          </a:p>
          <a:p>
            <a:pPr algn="just"/>
            <a:r>
              <a:rPr lang="en-US" sz="1900" dirty="0"/>
              <a:t>So whenever you have a requirement for protecting the access to a SINGLE resource accessed by multiple threads, you can use Binary Semaphore.</a:t>
            </a:r>
          </a:p>
        </p:txBody>
      </p:sp>
    </p:spTree>
    <p:extLst>
      <p:ext uri="{BB962C8B-B14F-4D97-AF65-F5344CB8AC3E}">
        <p14:creationId xmlns="" xmlns:p14="http://schemas.microsoft.com/office/powerpoint/2010/main" val="25812369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Inter </a:t>
            </a:r>
            <a:r>
              <a:rPr lang="en-US" dirty="0"/>
              <a:t>T</a:t>
            </a:r>
            <a:r>
              <a:rPr lang="en-US" dirty="0" smtClean="0"/>
              <a:t>ask Communication</a:t>
            </a:r>
            <a:endParaRPr lang="en-US" dirty="0"/>
          </a:p>
        </p:txBody>
      </p:sp>
      <p:sp>
        <p:nvSpPr>
          <p:cNvPr id="3" name="Content Placeholder 2"/>
          <p:cNvSpPr>
            <a:spLocks noGrp="1"/>
          </p:cNvSpPr>
          <p:nvPr>
            <p:ph idx="1"/>
          </p:nvPr>
        </p:nvSpPr>
        <p:spPr/>
        <p:txBody>
          <a:bodyPr/>
          <a:lstStyle/>
          <a:p>
            <a:pPr marL="0" indent="0">
              <a:buNone/>
            </a:pPr>
            <a:r>
              <a:rPr lang="en-US" dirty="0"/>
              <a:t>The term </a:t>
            </a:r>
            <a:r>
              <a:rPr lang="en-US" b="1" i="1" dirty="0"/>
              <a:t>inter-task communication</a:t>
            </a:r>
            <a:r>
              <a:rPr lang="en-US" dirty="0"/>
              <a:t> comprises all mechanisms serving to exchange information among tasks.</a:t>
            </a:r>
            <a:endParaRPr lang="en-US" dirty="0" smtClean="0"/>
          </a:p>
          <a:p>
            <a:r>
              <a:rPr lang="en-US" dirty="0" smtClean="0"/>
              <a:t>Direct</a:t>
            </a:r>
          </a:p>
          <a:p>
            <a:pPr lvl="1">
              <a:buFont typeface="Wingdings" panose="05000000000000000000" pitchFamily="2" charset="2"/>
              <a:buChar char="q"/>
            </a:pPr>
            <a:r>
              <a:rPr lang="en-US" dirty="0" smtClean="0"/>
              <a:t>Pipes</a:t>
            </a:r>
          </a:p>
          <a:p>
            <a:r>
              <a:rPr lang="en-US" dirty="0" smtClean="0"/>
              <a:t>Indirect</a:t>
            </a:r>
          </a:p>
          <a:p>
            <a:pPr lvl="1">
              <a:buFont typeface="Wingdings" panose="05000000000000000000" pitchFamily="2" charset="2"/>
              <a:buChar char="q"/>
            </a:pPr>
            <a:r>
              <a:rPr lang="en-US" dirty="0" smtClean="0"/>
              <a:t>Mailbox</a:t>
            </a:r>
          </a:p>
          <a:p>
            <a:pPr lvl="1">
              <a:buFont typeface="Wingdings" panose="05000000000000000000" pitchFamily="2" charset="2"/>
              <a:buChar char="q"/>
            </a:pPr>
            <a:r>
              <a:rPr lang="en-US" dirty="0" err="1" smtClean="0"/>
              <a:t>Ques</a:t>
            </a:r>
            <a:endParaRPr lang="en-US" dirty="0" smtClean="0"/>
          </a:p>
        </p:txBody>
      </p:sp>
    </p:spTree>
    <p:extLst>
      <p:ext uri="{BB962C8B-B14F-4D97-AF65-F5344CB8AC3E}">
        <p14:creationId xmlns="" xmlns:p14="http://schemas.microsoft.com/office/powerpoint/2010/main" val="19640611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Mailbox</a:t>
            </a:r>
            <a:endParaRPr lang="en-US" dirty="0"/>
          </a:p>
        </p:txBody>
      </p:sp>
      <p:sp>
        <p:nvSpPr>
          <p:cNvPr id="3" name="Content Placeholder 2"/>
          <p:cNvSpPr>
            <a:spLocks noGrp="1"/>
          </p:cNvSpPr>
          <p:nvPr>
            <p:ph idx="1"/>
          </p:nvPr>
        </p:nvSpPr>
        <p:spPr/>
        <p:txBody>
          <a:bodyPr/>
          <a:lstStyle/>
          <a:p>
            <a:pPr marL="0" indent="0" algn="just">
              <a:buNone/>
            </a:pPr>
            <a:r>
              <a:rPr lang="en-US" dirty="0"/>
              <a:t>A mailbox is simply a storage location, big enough to hold a single variable of type </a:t>
            </a:r>
            <a:r>
              <a:rPr lang="en-US" b="1" dirty="0"/>
              <a:t>ADDR</a:t>
            </a:r>
            <a:r>
              <a:rPr lang="en-US" dirty="0"/>
              <a:t>, access to which is controlled so that it may be safely utilized by multiple tasks. One task can write to a mailbox. It is then full, and no task can send to it until a task does a read on the mailbox or the mailbox is reset. Trying to send to a full mailbox or read from an empty one may result in an </a:t>
            </a:r>
            <a:r>
              <a:rPr lang="en-US" dirty="0" smtClean="0"/>
              <a:t>error </a:t>
            </a:r>
            <a:r>
              <a:rPr lang="en-US" dirty="0"/>
              <a:t>or task </a:t>
            </a:r>
            <a:r>
              <a:rPr lang="en-US" dirty="0" smtClean="0"/>
              <a:t>suspension.</a:t>
            </a:r>
            <a:endParaRPr lang="en-US" dirty="0"/>
          </a:p>
        </p:txBody>
      </p:sp>
    </p:spTree>
    <p:extLst>
      <p:ext uri="{BB962C8B-B14F-4D97-AF65-F5344CB8AC3E}">
        <p14:creationId xmlns="" xmlns:p14="http://schemas.microsoft.com/office/powerpoint/2010/main" val="35923290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smtClean="0"/>
              <a:t>Que</a:t>
            </a:r>
            <a:endParaRPr lang="en-US" dirty="0"/>
          </a:p>
        </p:txBody>
      </p:sp>
      <p:sp>
        <p:nvSpPr>
          <p:cNvPr id="3" name="Content Placeholder 2"/>
          <p:cNvSpPr>
            <a:spLocks noGrp="1"/>
          </p:cNvSpPr>
          <p:nvPr>
            <p:ph idx="1"/>
          </p:nvPr>
        </p:nvSpPr>
        <p:spPr/>
        <p:txBody>
          <a:bodyPr/>
          <a:lstStyle/>
          <a:p>
            <a:r>
              <a:rPr lang="en-US" dirty="0"/>
              <a:t>A queue is a FIFO (First In First Out) type buffer where data is written to the end (tail) of the queue and removed from the front (head) of the queue. It is also possible to write to the front of a queue.</a:t>
            </a:r>
          </a:p>
          <a:p>
            <a:r>
              <a:rPr lang="en-US" dirty="0"/>
              <a:t>A queue can either hold the data or pointer to the data</a:t>
            </a:r>
            <a:r>
              <a:rPr lang="en-US" dirty="0" smtClean="0"/>
              <a:t>.</a:t>
            </a:r>
          </a:p>
          <a:p>
            <a:r>
              <a:rPr lang="en-US"/>
              <a:t>Queue can also be used as semaphore, mutex, event flag, etc.</a:t>
            </a:r>
          </a:p>
          <a:p>
            <a:pPr marL="0" indent="0">
              <a:buNone/>
            </a:pPr>
            <a:endParaRPr lang="en-US" dirty="0"/>
          </a:p>
        </p:txBody>
      </p:sp>
    </p:spTree>
    <p:extLst>
      <p:ext uri="{BB962C8B-B14F-4D97-AF65-F5344CB8AC3E}">
        <p14:creationId xmlns="" xmlns:p14="http://schemas.microsoft.com/office/powerpoint/2010/main" val="13815465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Pipes</a:t>
            </a:r>
            <a:endParaRPr lang="en-US" dirty="0"/>
          </a:p>
        </p:txBody>
      </p:sp>
      <p:sp>
        <p:nvSpPr>
          <p:cNvPr id="3" name="Content Placeholder 2"/>
          <p:cNvSpPr>
            <a:spLocks noGrp="1"/>
          </p:cNvSpPr>
          <p:nvPr>
            <p:ph idx="1"/>
          </p:nvPr>
        </p:nvSpPr>
        <p:spPr/>
        <p:txBody>
          <a:bodyPr/>
          <a:lstStyle/>
          <a:p>
            <a:r>
              <a:rPr lang="en-US" dirty="0"/>
              <a:t> </a:t>
            </a:r>
            <a:r>
              <a:rPr lang="en-US" dirty="0" smtClean="0"/>
              <a:t>A </a:t>
            </a:r>
            <a:r>
              <a:rPr lang="en-US" dirty="0"/>
              <a:t>pipe is a technique for passing information from one program </a:t>
            </a:r>
            <a:r>
              <a:rPr lang="en-US" dirty="0" smtClean="0"/>
              <a:t>process</a:t>
            </a:r>
            <a:r>
              <a:rPr lang="en-US" dirty="0"/>
              <a:t> to another</a:t>
            </a:r>
            <a:r>
              <a:rPr lang="en-US" dirty="0" smtClean="0"/>
              <a:t>.</a:t>
            </a:r>
          </a:p>
          <a:p>
            <a:r>
              <a:rPr lang="en-US" dirty="0"/>
              <a:t>A</a:t>
            </a:r>
            <a:r>
              <a:rPr lang="en-US" dirty="0" smtClean="0"/>
              <a:t> </a:t>
            </a:r>
            <a:r>
              <a:rPr lang="en-US" dirty="0"/>
              <a:t>pipe is one-way </a:t>
            </a:r>
            <a:r>
              <a:rPr lang="en-US" dirty="0" smtClean="0"/>
              <a:t>communication.</a:t>
            </a:r>
          </a:p>
          <a:p>
            <a:r>
              <a:rPr lang="en-US" dirty="0"/>
              <a:t>a pipe passes a parameter such as the output of one process to another process which accepts it as input. </a:t>
            </a:r>
            <a:endParaRPr lang="en-US" dirty="0" smtClean="0"/>
          </a:p>
          <a:p>
            <a:r>
              <a:rPr lang="en-US" dirty="0" smtClean="0"/>
              <a:t>The </a:t>
            </a:r>
            <a:r>
              <a:rPr lang="en-US" dirty="0"/>
              <a:t>system temporarily holds the piped information until it is read by the receiving process.</a:t>
            </a:r>
          </a:p>
        </p:txBody>
      </p:sp>
    </p:spTree>
    <p:extLst>
      <p:ext uri="{BB962C8B-B14F-4D97-AF65-F5344CB8AC3E}">
        <p14:creationId xmlns="" xmlns:p14="http://schemas.microsoft.com/office/powerpoint/2010/main" val="314750285"/>
      </p:ext>
    </p:extLst>
  </p:cSld>
  <p:clrMapOvr>
    <a:masterClrMapping/>
  </p:clrMapOvr>
</p:sld>
</file>

<file path=ppt/theme/theme1.xml><?xml version="1.0" encoding="utf-8"?>
<a:theme xmlns:a="http://schemas.openxmlformats.org/drawingml/2006/main" name="Tech Computer 16x9">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TF02901026.potx" id="{468775DC-C458-452B-B494-CBFA066AAFA0}" vid="{10EEBE7C-0769-4F35-B6EB-5940E3BEB5F4}"/>
    </a:ext>
  </a:extLst>
</a:theme>
</file>

<file path=ppt/theme/theme2.xml><?xml version="1.0" encoding="utf-8"?>
<a:theme xmlns:a="http://schemas.openxmlformats.org/drawingml/2006/main" name="Office Theme">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DirectSourceMarket xmlns="4873beb7-5857-4685-be1f-d57550cc96cc" xsi:nil="true"/>
    <ApprovalStatus xmlns="4873beb7-5857-4685-be1f-d57550cc96cc">InProgress</ApprovalStatus>
    <MarketSpecific xmlns="4873beb7-5857-4685-be1f-d57550cc96cc">false</MarketSpecific>
    <LocComments xmlns="4873beb7-5857-4685-be1f-d57550cc96cc" xsi:nil="true"/>
    <ThumbnailAssetId xmlns="4873beb7-5857-4685-be1f-d57550cc96cc" xsi:nil="true"/>
    <PrimaryImageGen xmlns="4873beb7-5857-4685-be1f-d57550cc96cc">true</PrimaryImageGen>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1566889</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 xsi:nil="true"/>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2012-05-23T08:44:00+00:00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UACurrentWords xmlns="4873beb7-5857-4685-be1f-d57550cc96cc" xsi:nil="true"/>
    <ArtSampleDocs xmlns="4873beb7-5857-4685-be1f-d57550cc96cc" xsi:nil="true"/>
    <UALocRecommendation xmlns="4873beb7-5857-4685-be1f-d57550cc96cc">Localize</UALocRecommendation>
    <Manager xmlns="4873beb7-5857-4685-be1f-d57550cc96cc" xsi:nil="true"/>
    <ShowIn xmlns="4873beb7-5857-4685-be1f-d57550cc96cc">Show everywhere</ShowIn>
    <UANotes xmlns="4873beb7-5857-4685-be1f-d57550cc96cc" xsi:nil="true"/>
    <TemplateStatus xmlns="4873beb7-5857-4685-be1f-d57550cc96cc">Complete</TemplateStatus>
    <InternalTagsTaxHTField0 xmlns="4873beb7-5857-4685-be1f-d57550cc96cc">
      <Terms xmlns="http://schemas.microsoft.com/office/infopath/2007/PartnerControls"/>
    </InternalTagsTaxHTField0>
    <CSXHash xmlns="4873beb7-5857-4685-be1f-d57550cc96cc" xsi:nil="true"/>
    <Downloads xmlns="4873beb7-5857-4685-be1f-d57550cc96cc">0</Downloads>
    <VoteCount xmlns="4873beb7-5857-4685-be1f-d57550cc96cc" xsi:nil="true"/>
    <OOCacheId xmlns="4873beb7-5857-4685-be1f-d57550cc96cc" xsi:nil="true"/>
    <IsDeleted xmlns="4873beb7-5857-4685-be1f-d57550cc96cc">false</IsDeleted>
    <AssetExpire xmlns="4873beb7-5857-4685-be1f-d57550cc96cc">2029-01-01T08:00:00+00:00</AssetExpire>
    <DSATActionTaken xmlns="4873beb7-5857-4685-be1f-d57550cc96cc" xsi:nil="true"/>
    <CSXSubmissionMarket xmlns="4873beb7-5857-4685-be1f-d57550cc96cc" xsi:nil="true"/>
    <TPExecutable xmlns="4873beb7-5857-4685-be1f-d57550cc96cc" xsi:nil="true"/>
    <SubmitterId xmlns="4873beb7-5857-4685-be1f-d57550cc96cc" xsi:nil="true"/>
    <EditorialTags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TP102901017</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836753</LocLastLocAttemptVersionLookup>
    <IsSearchable xmlns="4873beb7-5857-4685-be1f-d57550cc96cc">true</IsSearchable>
    <TemplateTemplateType xmlns="4873beb7-5857-4685-be1f-d57550cc96cc">PowerPoint Design Template</TemplateTemplateType>
    <CampaignTagsTaxHTField0 xmlns="4873beb7-5857-4685-be1f-d57550cc96cc">
      <Terms xmlns="http://schemas.microsoft.com/office/infopath/2007/PartnerControls"/>
    </CampaignTagsTaxHTField0>
    <TPNamespace xmlns="4873beb7-5857-4685-be1f-d57550cc96cc" xsi:nil="true"/>
    <TaxCatchAll xmlns="4873beb7-5857-4685-be1f-d57550cc96cc"/>
    <Markets xmlns="4873beb7-5857-4685-be1f-d57550cc96cc"/>
    <UAProjectedTotalWords xmlns="4873beb7-5857-4685-be1f-d57550cc96cc" xsi:nil="true"/>
    <IntlLangReview xmlns="4873beb7-5857-4685-be1f-d57550cc96cc">false</IntlLangReview>
    <OutputCachingOn xmlns="4873beb7-5857-4685-be1f-d57550cc96cc">false</OutputCachingOn>
    <AverageRating xmlns="4873beb7-5857-4685-be1f-d57550cc96cc" xsi:nil="true"/>
    <APAuthor xmlns="4873beb7-5857-4685-be1f-d57550cc96cc">
      <UserInfo>
        <DisplayName>REDMOND\v-anij</DisplayName>
        <AccountId>2469</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OriginalRelease xmlns="4873beb7-5857-4685-be1f-d57550cc96cc">15</OriginalRelease>
    <TPLaunchHelpLinkType xmlns="4873beb7-5857-4685-be1f-d57550cc96cc">Template</TPLaunchHelpLinkType>
    <LocalizationTagsTaxHTField0 xmlns="4873beb7-5857-4685-be1f-d57550cc96cc">
      <Terms xmlns="http://schemas.microsoft.com/office/infopath/2007/PartnerControls"/>
    </LocalizationTagsTaxHTField0>
    <LocMarketGroupTiers2 xmlns="4873beb7-5857-4685-be1f-d57550cc96c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46CFF6F-D9AA-4BC0-911A-0A1356771912}">
  <ds:schemaRefs>
    <ds:schemaRef ds:uri="http://schemas.microsoft.com/sharepoint/v3/contenttype/forms"/>
  </ds:schemaRefs>
</ds:datastoreItem>
</file>

<file path=customXml/itemProps2.xml><?xml version="1.0" encoding="utf-8"?>
<ds:datastoreItem xmlns:ds="http://schemas.openxmlformats.org/officeDocument/2006/customXml" ds:itemID="{04098515-0C12-46CF-BC7C-69B4A13CD5FA}">
  <ds:schemaRefs>
    <ds:schemaRef ds:uri="http://purl.org/dc/elements/1.1/"/>
    <ds:schemaRef ds:uri="http://schemas.microsoft.com/office/2006/metadata/properties"/>
    <ds:schemaRef ds:uri="http://purl.org/dc/terms/"/>
    <ds:schemaRef ds:uri="http://schemas.microsoft.com/office/2006/documentManagement/types"/>
    <ds:schemaRef ds:uri="4873beb7-5857-4685-be1f-d57550cc96cc"/>
    <ds:schemaRef ds:uri="http://schemas.openxmlformats.org/package/2006/metadata/core-properties"/>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0B5C6E15-39DC-470B-9445-F754B94580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Business technology circuit board design presentation (widescreen)</Template>
  <TotalTime>279</TotalTime>
  <Words>524</Words>
  <Application>Microsoft Office PowerPoint</Application>
  <PresentationFormat>Custom</PresentationFormat>
  <Paragraphs>143</Paragraphs>
  <Slides>28</Slides>
  <Notes>0</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Tech Computer 16x9</vt:lpstr>
      <vt:lpstr>RTOS </vt:lpstr>
      <vt:lpstr>GPOS vs RTOS</vt:lpstr>
      <vt:lpstr>Types of Real Time Systems  </vt:lpstr>
      <vt:lpstr>Hard Real Time Systems  </vt:lpstr>
      <vt:lpstr>Soft Real Time Systems</vt:lpstr>
      <vt:lpstr>Firm Real Time Systems  </vt:lpstr>
      <vt:lpstr>Features of an RTOS</vt:lpstr>
      <vt:lpstr>Characteristics of an RTOS</vt:lpstr>
      <vt:lpstr>Kernel</vt:lpstr>
      <vt:lpstr>Types of Kernel</vt:lpstr>
      <vt:lpstr>Preemptive Kernels</vt:lpstr>
      <vt:lpstr>Non-Preemptive Kernels</vt:lpstr>
      <vt:lpstr>Kernel Functions</vt:lpstr>
      <vt:lpstr>Task</vt:lpstr>
      <vt:lpstr>Task States</vt:lpstr>
      <vt:lpstr>Thread</vt:lpstr>
      <vt:lpstr>Classification Of Threads</vt:lpstr>
      <vt:lpstr>Thread Control Block</vt:lpstr>
      <vt:lpstr>Sample TCB</vt:lpstr>
      <vt:lpstr>Context Switching</vt:lpstr>
      <vt:lpstr>Scheduler Algorithm</vt:lpstr>
      <vt:lpstr>Slide 22</vt:lpstr>
      <vt:lpstr>Task synchronization</vt:lpstr>
      <vt:lpstr>Types of Semaphore</vt:lpstr>
      <vt:lpstr>Inter Task Communication</vt:lpstr>
      <vt:lpstr>Mailbox</vt:lpstr>
      <vt:lpstr>Que</vt:lpstr>
      <vt:lpstr>Pipes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RTOS</dc:title>
  <dc:creator>Affrin Pinhero</dc:creator>
  <cp:lastModifiedBy>AJAY</cp:lastModifiedBy>
  <cp:revision>41</cp:revision>
  <dcterms:created xsi:type="dcterms:W3CDTF">2019-01-26T16:33:07Z</dcterms:created>
  <dcterms:modified xsi:type="dcterms:W3CDTF">2020-11-28T03:58:14Z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